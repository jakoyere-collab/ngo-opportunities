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3175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7B6B2"/>
                </a:solidFill>
                <a:latin typeface="Calibri"/>
              </a:rPr>
              <a:t>VIRTUOUS WOMEN OF HOPE CENTRE  ·  IN PARTNERSHIP WITH PARTNERS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Micro Enterprise Empowerment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Initiative (MEEI)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7B6B2"/>
                </a:solidFill>
                <a:latin typeface="Calibri"/>
              </a:rPr>
              <a:t>Business training, mentoring and access to capital for marginalized women, youths and nano businesses — Jos and environs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60520"/>
            <a:ext cx="3108960" cy="1051560"/>
          </a:xfrm>
          <a:prstGeom prst="rect">
            <a:avLst/>
          </a:prstGeom>
          <a:solidFill>
            <a:srgbClr val="0B5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7939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₦30,000,000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B6B2"/>
                </a:solidFill>
                <a:latin typeface="Calibri"/>
              </a:rPr>
              <a:t>Funding requested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4160520"/>
            <a:ext cx="3108960" cy="1051560"/>
          </a:xfrm>
          <a:prstGeom prst="rect">
            <a:avLst/>
          </a:prstGeom>
          <a:solidFill>
            <a:srgbClr val="0B5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27939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754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B6B2"/>
                </a:solidFill>
                <a:latin typeface="Calibri"/>
              </a:rPr>
              <a:t>Beneficiaries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160520"/>
            <a:ext cx="3108960" cy="1051560"/>
          </a:xfrm>
          <a:prstGeom prst="rect">
            <a:avLst/>
          </a:prstGeom>
          <a:solidFill>
            <a:srgbClr val="0B5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27939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754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B6B2"/>
                </a:solidFill>
                <a:latin typeface="Calibri"/>
              </a:rPr>
              <a:t>Programme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Submitted by: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Salome Agbaji (Mrs.) MBA — Founder &amp; Chairperson, VWHC / VWCLCS, Jos, Plateau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1722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7B6B2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01 —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949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222"/>
                </a:solidFill>
                <a:latin typeface="Calibri"/>
              </a:rPr>
              <a:t>Marginalized women, youths and nano businesses in Jos and environs continue to face barriers to training, mentorship and financing — despite having the potential and motivation to run successful small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444C"/>
                </a:solidFill>
                <a:latin typeface="Calibri"/>
              </a:rPr>
              <a:t>The ask: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222"/>
                </a:solidFill>
                <a:latin typeface="Calibri"/>
              </a:rPr>
              <a:t>₦30,000,000 to train and mentor 240 beneficiaries over 12 months, culminating in soft loans for viable business startups and upgrades to existing micro and small businesses.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3383280" cy="11887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2926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444C"/>
                </a:solidFill>
                <a:latin typeface="Calibri"/>
              </a:rPr>
              <a:t>Build sustainable livelihoods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246120"/>
            <a:ext cx="3383280" cy="11887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246120"/>
            <a:ext cx="2926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444C"/>
                </a:solidFill>
                <a:latin typeface="Calibri"/>
              </a:rPr>
              <a:t>Reduce unemployment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4663440"/>
            <a:ext cx="3383280" cy="11887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663440"/>
            <a:ext cx="2926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444C"/>
                </a:solidFill>
                <a:latin typeface="Calibri"/>
              </a:rPr>
              <a:t>Foster local economic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02 — WHY VIRTUOUS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A Proven Track Record Since 2015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57B6B2"/>
                </a:solidFill>
                <a:latin typeface="Calibri"/>
              </a:rP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women &amp; youth trained since 2015, with grants and support from Partners Worldwide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19" y="18288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57B6B2"/>
                </a:solidFill>
                <a:latin typeface="Calibri"/>
              </a:rPr>
              <a:t>294 + 84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2514600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trained in 2025 alone — Micro Enterprise and SME curricula respectively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8" y="18288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57B6B2"/>
                </a:solidFill>
                <a:latin typeface="Calibri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8" y="2514600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women &amp; youth given ₦50,000 grants + smartphones via the PLASMIDA nano-grant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10881360" cy="15240"/>
          </a:xfrm>
          <a:prstGeom prst="rect">
            <a:avLst/>
          </a:prstGeom>
          <a:solidFill>
            <a:srgbClr val="C9C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881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444C"/>
                </a:solidFill>
                <a:latin typeface="Calibri"/>
              </a:rPr>
              <a:t>Recognized leadership. 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Plateau State Government, through PLASMIDA, recognized VWHC with a nano grant and ICT training for 3 members. Founder Salome Agbaji was named one of the 100 Most Influential Women in Africa by the African Women Awards (4th edition, Kigali, Rwanda — 7 November 2025).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03 — WHAT THIS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47087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Train at least 240 marginalized women and youths in entrepreneurship, business management, and financial literacy.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199"/>
            <a:ext cx="457200" cy="4572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19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15767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Mentor participants through business incubation and ongoing support for 12 months.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79"/>
            <a:ext cx="457200" cy="4572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118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7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Provide startup grants to participants to start businesses.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59"/>
            <a:ext cx="457200" cy="4572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53127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Provide soft revolving loans at low interest for eligible participants to expand their micro enterprises.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49239"/>
            <a:ext cx="457200" cy="4572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21807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Foster sustainable livelihoods that contribute to local economic growth and poverty reduction.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04 — HOW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Implementation Plan — 12 Months, 5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87168"/>
            <a:ext cx="10881360" cy="19050"/>
          </a:xfrm>
          <a:prstGeom prst="rect">
            <a:avLst/>
          </a:prstGeom>
          <a:solidFill>
            <a:srgbClr val="C9C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3" y="2103120"/>
            <a:ext cx="512064" cy="512064"/>
          </a:xfrm>
          <a:prstGeom prst="ellipse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44C"/>
                </a:solidFill>
                <a:latin typeface="Calibri"/>
              </a:rPr>
              <a:t>1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444C"/>
                </a:solidFill>
                <a:latin typeface="Calibri"/>
              </a:rPr>
              <a:t>Mobilization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99339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Identify and recruit marginalized women and youth through community engagement.</a:t>
            </a:r>
          </a:p>
        </p:txBody>
      </p:sp>
      <p:sp>
        <p:nvSpPr>
          <p:cNvPr id="10" name="Oval 9"/>
          <p:cNvSpPr/>
          <p:nvPr/>
        </p:nvSpPr>
        <p:spPr>
          <a:xfrm>
            <a:off x="3621022" y="2103120"/>
            <a:ext cx="512064" cy="512064"/>
          </a:xfrm>
          <a:prstGeom prst="ellipse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788920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44C"/>
                </a:solidFill>
                <a:latin typeface="Calibri"/>
              </a:rPr>
              <a:t>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312724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444C"/>
                </a:solidFill>
                <a:latin typeface="Calibri"/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59" y="3611880"/>
            <a:ext cx="199339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Intensive training on business planning, marketing, record-keeping, and digital tools.</a:t>
            </a:r>
          </a:p>
        </p:txBody>
      </p:sp>
      <p:sp>
        <p:nvSpPr>
          <p:cNvPr id="14" name="Oval 13"/>
          <p:cNvSpPr/>
          <p:nvPr/>
        </p:nvSpPr>
        <p:spPr>
          <a:xfrm>
            <a:off x="5815581" y="2103120"/>
            <a:ext cx="512064" cy="512064"/>
          </a:xfrm>
          <a:prstGeom prst="ellipse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8" y="2788920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44C"/>
                </a:solidFill>
                <a:latin typeface="Calibri"/>
              </a:rPr>
              <a:t>3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312724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444C"/>
                </a:solidFill>
                <a:latin typeface="Calibri"/>
              </a:rPr>
              <a:t>Mentorship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8" y="3611880"/>
            <a:ext cx="199339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Match participants with experienced entrepreneurs and business coaches.</a:t>
            </a:r>
          </a:p>
        </p:txBody>
      </p:sp>
      <p:sp>
        <p:nvSpPr>
          <p:cNvPr id="18" name="Oval 17"/>
          <p:cNvSpPr/>
          <p:nvPr/>
        </p:nvSpPr>
        <p:spPr>
          <a:xfrm>
            <a:off x="8010140" y="2103120"/>
            <a:ext cx="512064" cy="512064"/>
          </a:xfrm>
          <a:prstGeom prst="ellipse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7" y="2788920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44C"/>
                </a:solidFill>
                <a:latin typeface="Calibri"/>
              </a:rPr>
              <a:t>1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7" y="312724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444C"/>
                </a:solidFill>
                <a:latin typeface="Calibri"/>
              </a:rPr>
              <a:t>Financing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7" y="3611880"/>
            <a:ext cx="199339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Disburse low-interest soft loans alongside financial literacy sessions.</a:t>
            </a:r>
          </a:p>
        </p:txBody>
      </p:sp>
      <p:sp>
        <p:nvSpPr>
          <p:cNvPr id="22" name="Oval 21"/>
          <p:cNvSpPr/>
          <p:nvPr/>
        </p:nvSpPr>
        <p:spPr>
          <a:xfrm>
            <a:off x="10204699" y="2103120"/>
            <a:ext cx="512064" cy="512064"/>
          </a:xfrm>
          <a:prstGeom prst="ellipse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6" y="2788920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44C"/>
                </a:solidFill>
                <a:latin typeface="Calibri"/>
              </a:rPr>
              <a:t>5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6" y="312724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444C"/>
                </a:solidFill>
                <a:latin typeface="Calibri"/>
              </a:rPr>
              <a:t>Monitoring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6" y="3611880"/>
            <a:ext cx="199339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Regular follow-up, business-performance evaluation, and success-story documentation.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05 — 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975103" cy="30175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9751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444C"/>
                </a:solidFill>
                <a:latin typeface="Calibri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7007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of participants gain employable entrepreneurial and financial 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1" y="2103120"/>
            <a:ext cx="1975103" cy="30175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1" y="2423160"/>
            <a:ext cx="19751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444C"/>
                </a:solidFill>
                <a:latin typeface="Calibr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1" y="3337560"/>
            <a:ext cx="17007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of participants establish new micro enterprises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9742" y="2103120"/>
            <a:ext cx="1975103" cy="30175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2" y="2423160"/>
            <a:ext cx="19751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444C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2" y="3337560"/>
            <a:ext cx="17007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of existing micro enterprises will be expanded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4573" y="2103120"/>
            <a:ext cx="1975103" cy="30175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3" y="2423160"/>
            <a:ext cx="19751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444C"/>
                </a:solidFill>
                <a:latin typeface="Calibri"/>
              </a:rP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3" y="3337560"/>
            <a:ext cx="17007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increase in household income among beneficiaries within 12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9404" y="2103120"/>
            <a:ext cx="1975103" cy="3017520"/>
          </a:xfrm>
          <a:prstGeom prst="rect">
            <a:avLst/>
          </a:prstGeom>
          <a:solidFill>
            <a:srgbClr val="EB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4" y="2423160"/>
            <a:ext cx="19751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444C"/>
                </a:solidFill>
                <a:latin typeface="Calibr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4" y="3337560"/>
            <a:ext cx="17007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of micro businesses can employ a staff or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Plus: strengthened community networks and peer mentorship systems that outlast the funding 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06 — THE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444C"/>
                </a:solidFill>
                <a:latin typeface="Calibri"/>
              </a:rPr>
              <a:t>Budget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37170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6240"/>
                <a:gridCol w="2377440"/>
                <a:gridCol w="173736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Budget Item</a:t>
                      </a:r>
                    </a:p>
                  </a:txBody>
                  <a:tcPr marL="73152" marR="73152" marT="18288" marB="18288" anchor="ctr">
                    <a:solidFill>
                      <a:srgbClr val="00444C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 Price (₦)</a:t>
                      </a:r>
                    </a:p>
                  </a:txBody>
                  <a:tcPr marL="73152" marR="73152" marT="18288" marB="18288" anchor="ctr">
                    <a:solidFill>
                      <a:srgbClr val="00444C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73152" marR="73152" marT="18288" marB="18288" anchor="ctr">
                    <a:solidFill>
                      <a:srgbClr val="00444C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 (₦)</a:t>
                      </a:r>
                    </a:p>
                  </a:txBody>
                  <a:tcPr marL="73152" marR="73152" marT="18288" marB="18288" anchor="ctr">
                    <a:solidFill>
                      <a:srgbClr val="00444C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2,400,000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Facilitation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1,440,000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Mentorship programme &amp; expert fees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1,500,000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 months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1,500,000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Startup grant for trainees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7,200,000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Soft loan fund pool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10,000,000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Revolving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10,000,000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Monitoring &amp; Evaluation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1,460,000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12 months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1,460,000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Administrative &amp; logistics costs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3,200,000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12 months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3,200,000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1,440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2,800,000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444C"/>
                          </a:solidFill>
                          <a:latin typeface="Calibri"/>
                        </a:rPr>
                        <a:t>Total Requested Amount</a:t>
                      </a:r>
                    </a:p>
                  </a:txBody>
                  <a:tcPr marL="73152" marR="73152" marT="18288" marB="18288" anchor="ctr">
                    <a:solidFill>
                      <a:srgbClr val="EBF6F5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444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EBF6F5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444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EBF6F5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0444C"/>
                          </a:solidFill>
                          <a:latin typeface="Calibri"/>
                        </a:rPr>
                        <a:t>30,000,000</a:t>
                      </a:r>
                    </a:p>
                  </a:txBody>
                  <a:tcPr marL="73152" marR="73152" marT="18288" marB="18288" anchor="ctr">
                    <a:solidFill>
                      <a:srgbClr val="EBF6F5"/>
                    </a:solidFill>
                    <a:lnL w="6350" cap="flat">
                      <a:solidFill>
                        <a:srgbClr val="C9C9C5"/>
                      </a:solidFill>
                    </a:lnL>
                    <a:lnR w="6350" cap="flat">
                      <a:solidFill>
                        <a:srgbClr val="C9C9C5"/>
                      </a:solidFill>
                    </a:lnR>
                    <a:lnT w="6350" cap="flat">
                      <a:solidFill>
                        <a:srgbClr val="C9C9C5"/>
                      </a:solidFill>
                    </a:lnT>
                    <a:lnB w="6350" cap="flat">
                      <a:solidFill>
                        <a:srgbClr val="C9C9C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Micro Enterprise Empowerment Initiative (MEEI)  ·  VWHC / Virtuous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7B6B2"/>
                </a:solidFill>
                <a:latin typeface="Calibri"/>
              </a:rPr>
              <a:t>07 — BEYOND THE FUNDING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Sustainability &amp; Our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05840" cy="27940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76272"/>
            <a:ext cx="109728" cy="109728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revolving loan fund will sustain support for new participants beyond this grant, growing the existing loan pool.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53512"/>
            <a:ext cx="109728" cy="109728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Graduates who successfully grow their enterprises contribute a small repayment percentage to sustain the loan pool.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30752"/>
            <a:ext cx="109728" cy="109728"/>
          </a:xfrm>
          <a:prstGeom prst="rect">
            <a:avLst/>
          </a:prstGeom>
          <a:solidFill>
            <a:srgbClr val="57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programme will seek private sector sponsorships and partnerships with local banks to expand access to capital.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10881360" cy="15240"/>
          </a:xfrm>
          <a:prstGeom prst="rect">
            <a:avLst/>
          </a:prstGeom>
          <a:solidFill>
            <a:srgbClr val="0B5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7B6B2"/>
                </a:solidFill>
                <a:latin typeface="Calibri"/>
              </a:rPr>
              <a:t>MEEI aligns with Government priorities of inclusive economic growth, youth empowerment and women’s economic participation — moving marginalized groups from dependence to self-reliance.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We respectfully request your support to bring this vision to fruition.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B6B2"/>
                </a:solidFill>
                <a:latin typeface="Calibri"/>
              </a:rPr>
              <a:t>Salome Agbaji (Mrs.) MBA  ·  +234 803 453 5174  ·  vwclcs@gmail.com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