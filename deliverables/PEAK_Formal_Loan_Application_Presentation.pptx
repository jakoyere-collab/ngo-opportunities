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2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8" r:id="rId12"/>
    <p:sldId id="269" r:id="rId13"/>
    <p:sldId id="272" r:id="rId14"/>
    <p:sldId id="263" r:id="rId15"/>
    <p:sldId id="264" r:id="rId16"/>
    <p:sldId id="265" r:id="rId17"/>
    <p:sldId id="266" r:id="rId18"/>
  </p:sldIdLst>
  <p:sldSz cx="18288000" cy="10287000"/>
  <p:notesSz cx="6858000" cy="9144000"/>
  <p:embeddedFontLst>
    <p:embeddedFont>
      <p:font typeface="Myriad Pro 1" panose="020B0604020202020204" charset="0"/>
      <p:regular r:id="rId20"/>
    </p:embeddedFont>
    <p:embeddedFont>
      <p:font typeface="Myriad Pro 2" panose="020B060402020202020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FF097A-53F5-5B4D-9B8E-B885B5BA2419}" v="464" dt="2026-10-19T14:59:53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56" autoAdjust="0"/>
  </p:normalViewPr>
  <p:slideViewPr>
    <p:cSldViewPr>
      <p:cViewPr>
        <p:scale>
          <a:sx n="82" d="100"/>
          <a:sy n="82" d="100"/>
        </p:scale>
        <p:origin x="144" y="-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Beneficiary mix</c:v>
                </c:pt>
              </c:strCache>
            </c:strRef>
          </c:tx>
          <c:dPt>
            <c:idx val="0"/>
            <c:bubble3D val="0"/>
            <c:spPr>
              <a:solidFill>
                <a:srgbClr val="F0A61E"/>
              </a:solidFill>
            </c:spPr>
            <c:extLst>
              <c:ext xmlns:c16="http://schemas.microsoft.com/office/drawing/2014/chart" uri="{C3380CC4-5D6E-409C-BE32-E72D297353CC}">
                <c16:uniqueId val="{00000001-D11B-D840-995C-FAD7E067D64D}"/>
              </c:ext>
            </c:extLst>
          </c:dPt>
          <c:dPt>
            <c:idx val="1"/>
            <c:bubble3D val="0"/>
            <c:spPr>
              <a:solidFill>
                <a:srgbClr val="BFE3DF"/>
              </a:solidFill>
            </c:spPr>
            <c:extLst>
              <c:ext xmlns:c16="http://schemas.microsoft.com/office/drawing/2014/chart" uri="{C3380CC4-5D6E-409C-BE32-E72D297353CC}">
                <c16:uniqueId val="{00000003-D11B-D840-995C-FAD7E067D64D}"/>
              </c:ext>
            </c:extLst>
          </c:dPt>
          <c:dPt>
            <c:idx val="2"/>
            <c:bubble3D val="0"/>
            <c:spPr>
              <a:solidFill>
                <a:srgbClr val="8A8A85"/>
              </a:solidFill>
            </c:spPr>
            <c:extLst>
              <c:ext xmlns:c16="http://schemas.microsoft.com/office/drawing/2014/chart" uri="{C3380CC4-5D6E-409C-BE32-E72D297353CC}">
                <c16:uniqueId val="{00000005-D11B-D840-995C-FAD7E067D6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2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Women &amp; youth</c:v>
                </c:pt>
                <c:pt idx="1">
                  <c:v>SMEs / MSMEs</c:v>
                </c:pt>
                <c:pt idx="2">
                  <c:v>Artisans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11B-D840-995C-FAD7E067D64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8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 (USD)</c:v>
                </c:pt>
              </c:strCache>
            </c:strRef>
          </c:tx>
          <c:spPr>
            <a:solidFill>
              <a:srgbClr val="8A8A85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Total assets</c:v>
                </c:pt>
                <c:pt idx="1">
                  <c:v>Loans &amp; advances</c:v>
                </c:pt>
                <c:pt idx="2">
                  <c:v>Accumulated funds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391763</c:v>
                </c:pt>
                <c:pt idx="1">
                  <c:v>141382</c:v>
                </c:pt>
                <c:pt idx="2">
                  <c:v>102410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97D-2F49-95FF-BB903283DA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(USD)</c:v>
                </c:pt>
              </c:strCache>
            </c:strRef>
          </c:tx>
          <c:spPr>
            <a:solidFill>
              <a:srgbClr val="F0A61E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Total assets</c:v>
                </c:pt>
                <c:pt idx="1">
                  <c:v>Loans &amp; advances</c:v>
                </c:pt>
                <c:pt idx="2">
                  <c:v>Accumulated funds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495531</c:v>
                </c:pt>
                <c:pt idx="1">
                  <c:v>217485</c:v>
                </c:pt>
                <c:pt idx="2">
                  <c:v>176628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97D-2F49-95FF-BB903283DA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6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Overdue amount (USD)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0A61E"/>
              </a:solidFill>
            </c:spPr>
            <c:extLst>
              <c:ext xmlns:c16="http://schemas.microsoft.com/office/drawing/2014/chart" uri="{C3380CC4-5D6E-409C-BE32-E72D297353CC}">
                <c16:uniqueId val="{00000001-76B9-7443-AAF1-9B9EBEDB0360}"/>
              </c:ext>
            </c:extLst>
          </c:dPt>
          <c:dPt>
            <c:idx val="1"/>
            <c:invertIfNegative val="1"/>
            <c:bubble3D val="0"/>
            <c:spPr>
              <a:solidFill>
                <a:srgbClr val="F0A61E"/>
              </a:solidFill>
            </c:spPr>
            <c:extLst>
              <c:ext xmlns:c16="http://schemas.microsoft.com/office/drawing/2014/chart" uri="{C3380CC4-5D6E-409C-BE32-E72D297353CC}">
                <c16:uniqueId val="{00000003-76B9-7443-AAF1-9B9EBEDB0360}"/>
              </c:ext>
            </c:extLst>
          </c:dPt>
          <c:dPt>
            <c:idx val="2"/>
            <c:invertIfNegative val="1"/>
            <c:bubble3D val="0"/>
            <c:spPr>
              <a:solidFill>
                <a:srgbClr val="F0A61E"/>
              </a:solidFill>
            </c:spPr>
            <c:extLst>
              <c:ext xmlns:c16="http://schemas.microsoft.com/office/drawing/2014/chart" uri="{C3380CC4-5D6E-409C-BE32-E72D297353CC}">
                <c16:uniqueId val="{00000005-76B9-7443-AAF1-9B9EBEDB0360}"/>
              </c:ext>
            </c:extLst>
          </c:dPt>
          <c:dPt>
            <c:idx val="3"/>
            <c:invertIfNegative val="1"/>
            <c:bubble3D val="0"/>
            <c:spPr>
              <a:solidFill>
                <a:srgbClr val="F0A61E"/>
              </a:solidFill>
            </c:spPr>
            <c:extLst>
              <c:ext xmlns:c16="http://schemas.microsoft.com/office/drawing/2014/chart" uri="{C3380CC4-5D6E-409C-BE32-E72D297353CC}">
                <c16:uniqueId val="{00000007-76B9-7443-AAF1-9B9EBEDB0360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1–30 days</c:v>
                </c:pt>
                <c:pt idx="1">
                  <c:v>31–60 days</c:v>
                </c:pt>
                <c:pt idx="2">
                  <c:v>61–90 days</c:v>
                </c:pt>
                <c:pt idx="3">
                  <c:v>90+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1075</c:v>
                </c:pt>
                <c:pt idx="2">
                  <c:v>690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6B9-7443-AAF1-9B9EBEDB03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2F7A0-CEE1-9945-8F03-59E912EC6B07}" type="datetimeFigureOut">
              <a:rPr lang="en-HN" smtClean="0"/>
              <a:t>10/20/2026</a:t>
            </a:fld>
            <a:endParaRPr lang="en-H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CB467-324A-BB43-9110-ECE873B44506}" type="slidenum">
              <a:rPr lang="en-HN" smtClean="0"/>
              <a:t>‹#›</a:t>
            </a:fld>
            <a:endParaRPr lang="en-HN"/>
          </a:p>
        </p:txBody>
      </p:sp>
    </p:spTree>
    <p:extLst>
      <p:ext uri="{BB962C8B-B14F-4D97-AF65-F5344CB8AC3E}">
        <p14:creationId xmlns:p14="http://schemas.microsoft.com/office/powerpoint/2010/main" val="987922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Total presentation time: 35 minutes maximum</a:t>
            </a:r>
          </a:p>
          <a:p/>
          <a:p>
            <a:r>
              <a:t>Anticipate the hardest likely questions before they're asked: board governance detail (keep general, per the LCI Overview slide note); what happens if the BA Team's recommendation comes back with conditions attached; how the naira/FX exposure named on the Risk Assessment slide is actually tracked day to day.</a:t>
            </a:r>
          </a:p>
          <a:p>
            <a:r>
              <a:t>If a question goes beyond what's in the deck, it's fine to commit to a written follow-up rather than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CB467-324A-BB43-9110-ECE873B44506}" type="slidenum">
              <a:rPr lang="en-HN" smtClean="0"/>
              <a:t>13</a:t>
            </a:fld>
            <a:endParaRPr lang="en-HN"/>
          </a:p>
        </p:txBody>
      </p:sp>
    </p:spTree>
    <p:extLst>
      <p:ext uri="{BB962C8B-B14F-4D97-AF65-F5344CB8AC3E}">
        <p14:creationId xmlns:p14="http://schemas.microsoft.com/office/powerpoint/2010/main" val="2088809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welcome the committee and thank them for their time.</a:t>
            </a:r>
          </a:p>
          <a:p>
            <a:r>
              <a:t>Introduce yourself and PEAK Empowerment &amp; Development Foundation — a Nigerian NGO-MFI and existing Partners Worldwide LCI partner.</a:t>
            </a:r>
          </a:p>
          <a:p>
            <a:r>
              <a:t>Frame the ask immediately: this is PEAK's second formal loan request to PW, built on a clean track record from the first.</a:t>
            </a:r>
          </a:p>
          <a:p>
            <a:r>
              <a:t>Preview the structure: why now, who PEAK is, the track record, the ask and terms, the products and numbers behind them, the risks,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this is a growth loan, not a rescue loan — the existing $187,889 book is healthy (only 0.98% overdue).</a:t>
            </a:r>
          </a:p>
          <a:p>
            <a:r>
              <a:t>The binding constraint is capital, not capacity or discipline — PEAK has shown it can manage credit well; it simply needs more of it to lend.</a:t>
            </a:r>
          </a:p>
          <a:p>
            <a:r>
              <a:t>End on the reach number — 2,000+ underserved customers, 70%+ women and youth — to set up why this matters beyond the balance sheet.</a:t>
            </a:r>
          </a:p>
          <a:p>
            <a:r>
              <a:t>If asked for more detail on the $187,889 figure or the 0.98% overdue rate, the full aging breakdown is on the Credit Quality &amp; Portfolio Aging slide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PEAK's credibility as an institution, not just a borrower: founded 2021, five credit products plus a licensed savings arm at 17% p.a.</a:t>
            </a:r>
          </a:p>
          <a:p>
            <a:r>
              <a:t>Name the five products briefly (MiniMonie, PeakLite/MicroGroup, Sabi Trader, SME, BetaBiz) — the Credit Products slide later breaks each one down in full.</a:t>
            </a:r>
          </a:p>
          <a:p>
            <a:r>
              <a:t>Governance: Board of Trustees oversight, with CEO Joe Onyeabor and Executive Director Abiodun Yusuph running day-to-day operations.</a:t>
            </a:r>
          </a:p>
          <a:p>
            <a:r>
              <a:t>Scale point: 70+ staff across 6 functional teams — this is an operating institution, not a small informal effort.</a:t>
            </a:r>
          </a:p>
          <a:p>
            <a:r>
              <a:t>If asked for exact board size or composition, keep the answer general ("a functioning Board of Trustees") rather than citing a specific headcount — the source materials aren't fully consistent on this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the single most important slide for this audience: it answers "did they handle our money well last time?"</a:t>
            </a:r>
          </a:p>
          <a:p>
            <a:r>
              <a:t>Key facts, in order: official PW LCI since 2023; this is the SECOND facility request; the first — $100,000 loan plus $20,000 Digital LEAP Grant — was fully repaid and fully utilized with no issues recorded.</a:t>
            </a:r>
          </a:p>
          <a:p>
            <a:r>
              <a:t>Give a live update on the BA Team's Letter of Recommendation if the response has come in since this was written (it was "pending" at submission).</a:t>
            </a:r>
          </a:p>
          <a:p>
            <a:r>
              <a:t>Pivot to the audited FY2025 numbers: loan book +54% to $217,485, total assets +26% to $495,531, accumulated funds +72% to $176,628.</a:t>
            </a:r>
          </a:p>
          <a:p>
            <a:r>
              <a:t>Close on leverage: improved from 2.3x to 1.4x in a single year — growing into this facility gradually (to ~3x) is safer than if it had been granted a year ago (~5x).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PW's own internal sign-off — it tells the committee that PW's people on the ground believe in this, not just PEAK's own account of itself.</a:t>
            </a:r>
          </a:p>
          <a:p>
            <a:r>
              <a:t>Lead with the quote: "PEAK did what it said it would do with the first cycle — the strongest case I can make for a second."</a:t>
            </a:r>
          </a:p>
          <a:p>
            <a:r>
              <a:t>Confirm both the BA Team and the Regional Director (RD) raised no material concerns and support the application.</a:t>
            </a:r>
          </a:p>
          <a:p>
            <a:r>
              <a:t>Mention the BA Team engaged PEAK in person in Nigeria — this was not a remote, paper-only review.</a:t>
            </a:r>
          </a:p>
          <a:p>
            <a:r>
              <a:t>If pressed on what "no material concerns" means in practice, connect it back to the clean repayment history on the LCI History slide and the credit-quality numbers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concrete ask, stated plainly: US$280,000, 100% deployed into PEAK's lending portfolio — none of it goes to overhead or administration.</a:t>
            </a:r>
          </a:p>
          <a:p>
            <a:r>
              <a:t>Name who it reaches: women-owned businesses, youth entrepreneurs, rural traders, artisans, SMEs.</a:t>
            </a:r>
          </a:p>
          <a:p>
            <a:r>
              <a:t>Pre-empt the "how will we know it's working" question: mid-term review plus regular portfolio-performance reporting are built into the ask,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term sheet — slow down here, reviewers will want to follow each line exactly.</a:t>
            </a:r>
          </a:p>
          <a:p>
            <a:r>
              <a:t>Walk the six terms in order: loan distribution, 5% interest rate, 36-month term with a 6-month moratorium and mid-term review, no collateral or guarantors required, 3% forecasted loan loss, and the loan-reserve condition tied to portfolio aging.</a:t>
            </a:r>
          </a:p>
          <a:p>
            <a:r>
              <a:t>If asked why there's no collateral requirement: PW's LCI model underwrites on institutional track record and governance, not asset-backed security — exactly what the previous two slides were building the case for.</a:t>
            </a:r>
          </a:p>
          <a:p>
            <a:r>
              <a:t>The loan-reserve condition connects directly to the Credit Quality &amp; Portfolio Aging slide later — the aging bands shown there are the basis for that reserve.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of this slide: show the loan isn't going into one undifferentiated pool — it funds five distinct products, each sized to a different borrower's cash-flow pattern.</a:t>
            </a:r>
          </a:p>
          <a:p>
            <a:r>
              <a:t>Walk the ladder from smallest to largest: MiniMonie (daily traders) through PeakLite/MicroGroup, Sabi Trader, SME, up to BetaBiz (established working capital).</a:t>
            </a:r>
          </a:p>
          <a:p>
            <a:r>
              <a:t>Note the collection rhythm matches the borrower: daily collection for the smallest, most frequent-income products; monthly for the larger ones.</a:t>
            </a:r>
          </a:p>
          <a:p>
            <a:r>
              <a:t>The four stat tiles are PEAK's own on-lending economics: 3.5% interest rate to borrowers, 10% equity contribution required of them, 5.5% management fee and insurance, and a 17% p.a. savings rate for those who save alongside their loan.</a:t>
            </a:r>
          </a:p>
          <a:p>
            <a:r>
              <a:t>If asked about the spread between PW's 5% rate to PEAK and PEAK's own on-lending economics: the difference covers PEAK's operating costs and loss provisioning across the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richest data slide in the deck — give it real time and don't rush past it.</a:t>
            </a:r>
          </a:p>
          <a:p>
            <a:r>
              <a:t>Lead with the fact these are AUDITED numbers (Ismaheel and Co., FYE 31 December 2025), not PEAK's own internal estimate — that credibility matters to this audience.</a:t>
            </a:r>
          </a:p>
          <a:p>
            <a:r>
              <a:t>Headline the three growth figures together: +26% total assets, +54% loan book, +72% accumulated funds, all in a single year.</a:t>
            </a:r>
          </a:p>
          <a:p>
            <a:r>
              <a:t>The donut chart answers "who does this reach": 70%+ women and youth, 20% SMEs/MSMEs, 10% artisans.</a:t>
            </a:r>
          </a:p>
          <a:p>
            <a:r>
              <a:t>This is the slide to return to if anyone questions whether PEAK can responsibly absorb and grow a larger facility — the growth is already happening before this money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Directly answers the skeptical question "is this book actually healthy, or are they just asking because they're in trouble?"</a:t>
            </a:r>
          </a:p>
          <a:p>
            <a:r>
              <a:t>$187,889 outstanding, only 0.98% overdue ($1,850) — and nothing has aged beyond 90 days.</a:t>
            </a:r>
          </a:p>
          <a:p>
            <a:r>
              <a:t>Make the point that the graduated provisioning policy (1% at current, up to 100% beyond 90 days) was built in from day one — it is not a new discipline adopted because PEAK is asking for more capital now.</a:t>
            </a:r>
          </a:p>
          <a:p>
            <a:r>
              <a:t>The aging chart shows the shape of that $1,850: concentrated in the 31–60 day band, nothing chronic or written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"why this matters beyond the balance sheet" slide — translate the dollars into people.</a:t>
            </a:r>
          </a:p>
          <a:p>
            <a:r>
              <a:t>Lead with the headline number: 2,000+ customers and businesses reached across PEAK's operating communities.</a:t>
            </a:r>
          </a:p>
          <a:p>
            <a:r>
              <a:t>Break down who: 70%+ women and youth, 20% SMEs/MSMEs, 10% artisans — be specific about what capital does differently for each (working capital and structured liquidity for traders and SMEs; tools and inputs for artisans).</a:t>
            </a:r>
          </a:p>
          <a:p>
            <a:r>
              <a:t>Don't let savings get lost under the credit story: 17% p.a. savings mobilised alongside every loan is building resilience, not just extending debt.</a:t>
            </a:r>
          </a:p>
          <a:p>
            <a:r>
              <a:t>Close on the household/enterprise framing: more stable income at the household level; continuity, growth and preserved livelihoods at the enterprise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all four risk categories and, for each, show the mitigation is already operating today — not a plan for later.</a:t>
            </a:r>
          </a:p>
          <a:p>
            <a:r>
              <a:t>Credit risk (repayment delays/default): mitigated by appraisal and guarantees, consistent with the 0.98% overdue rate already shown.</a:t>
            </a:r>
          </a:p>
          <a:p>
            <a:r>
              <a:t>Liquidity risk (insufficient funds or delayed partner funding): mitigated by cash-flow monitoring, diversified funding, and liquidity reserves.</a:t>
            </a:r>
          </a:p>
          <a:p>
            <a:r>
              <a:t>Market &amp; currency risk: naira volatility and inflation are real and worth naming unprompted rather than waiting to be asked — PEAK operates entirely in Nigeria. Mitigated by market monitoring, flexible products, and digital-channel improvement.</a:t>
            </a:r>
          </a:p>
          <a:p>
            <a:r>
              <a:t>Operational &amp; compliance risk: mitigated by segregation of duties, internal controls, and periodic audits.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closing beat: thank the committee again and restate the ask in one sentence — US$280,000 to fund PEAK's next stage of growth on a proven track record.</a:t>
            </a:r>
          </a:p>
          <a:p>
            <a:r>
              <a:t>Invite any final questions, or offer to follow up in writing on anything Q&amp;A didn't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jpeg"/><Relationship Id="rId4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4.jpe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5.jpeg"/><Relationship Id="rId4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3" Type="http://schemas.openxmlformats.org/officeDocument/2006/relationships/image" Target="../media/image2.svg"/><Relationship Id="rId4" Type="http://schemas.openxmlformats.org/officeDocument/2006/relationships/image" Target="../media/image8.svg"/><Relationship Id="rId5" Type="http://schemas.openxmlformats.org/officeDocument/2006/relationships/image" Target="../media/image9.svg"/><Relationship Id="rId6" Type="http://schemas.openxmlformats.org/officeDocument/2006/relationships/image" Target="../media/image10.svg"/><Relationship Id="rId7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B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08504"/>
            <a:ext cx="5396889" cy="1040128"/>
          </a:xfrm>
          <a:custGeom>
            <a:avLst/>
            <a:gdLst/>
            <a:ahLst/>
            <a:cxnLst/>
            <a:rect l="l" t="t" r="r" b="b"/>
            <a:pathLst>
              <a:path w="5396889" h="1040128">
                <a:moveTo>
                  <a:pt x="0" y="0"/>
                </a:moveTo>
                <a:lnTo>
                  <a:pt x="5396889" y="0"/>
                </a:lnTo>
                <a:lnTo>
                  <a:pt x="5396889" y="1040127"/>
                </a:lnTo>
                <a:lnTo>
                  <a:pt x="0" y="10401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sp>
        <p:nvSpPr>
          <p:cNvPr id="3" name="TextBox 3"/>
          <p:cNvSpPr txBox="1"/>
          <p:nvPr/>
        </p:nvSpPr>
        <p:spPr>
          <a:xfrm>
            <a:off x="1028700" y="4572000"/>
            <a:ext cx="6824766" cy="914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418"/>
              </a:lnSpc>
            </a:pPr>
            <a:r>
              <a:rPr lang="en-US" sz="4000">
                <a:solidFill>
                  <a:srgbClr val="FFFFFF"/>
                </a:solidFill>
                <a:latin typeface="Myriad Pro 1"/>
              </a:rPr>
              <a:t>Formal Loan 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17520"/>
            <a:ext cx="9844516" cy="1371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3600" dirty="0">
                <a:solidFill>
                  <a:srgbClr val="FFFFFF"/>
                </a:solidFill>
                <a:latin typeface="Myriad Pro 2"/>
              </a:rPr>
              <a:t>PEAK Empowerment &amp; Development Foundation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028700" y="5669280"/>
            <a:ext cx="7677205" cy="5486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800">
                <a:solidFill>
                  <a:srgbClr val="FFFFFF"/>
                </a:solidFill>
                <a:latin typeface="Myriad Pro 1"/>
              </a:rPr>
              <a:t>Jeremiah Akoyere  ·  Partnership Manager</a:t>
            </a:r>
            <a:endParaRPr lang="en-US" sz="3999" dirty="0">
              <a:solidFill>
                <a:srgbClr val="FFFFFF"/>
              </a:solidFill>
              <a:latin typeface="Myriad Pro 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580" y="211893"/>
            <a:ext cx="3694736" cy="712076"/>
          </a:xfrm>
          <a:custGeom>
            <a:avLst/>
            <a:gdLst/>
            <a:ahLst/>
            <a:cxnLst/>
            <a:rect l="l" t="t" r="r" b="b"/>
            <a:pathLst>
              <a:path w="3694736" h="712076">
                <a:moveTo>
                  <a:pt x="0" y="0"/>
                </a:moveTo>
                <a:lnTo>
                  <a:pt x="3694736" y="0"/>
                </a:lnTo>
                <a:lnTo>
                  <a:pt x="3694736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grpSp>
        <p:nvGrpSpPr>
          <p:cNvPr id="3" name="Group 3"/>
          <p:cNvGrpSpPr/>
          <p:nvPr/>
        </p:nvGrpSpPr>
        <p:grpSpPr>
          <a:xfrm>
            <a:off x="541861" y="1407256"/>
            <a:ext cx="4705286" cy="768499"/>
            <a:chOff x="0" y="0"/>
            <a:chExt cx="650862" cy="1932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50862" cy="193281"/>
            </a:xfrm>
            <a:custGeom>
              <a:avLst/>
              <a:gdLst/>
              <a:ahLst/>
              <a:cxnLst/>
              <a:rect l="l" t="t" r="r" b="b"/>
              <a:pathLst>
                <a:path w="650862" h="193281">
                  <a:moveTo>
                    <a:pt x="0" y="0"/>
                  </a:moveTo>
                  <a:lnTo>
                    <a:pt x="650862" y="0"/>
                  </a:lnTo>
                  <a:lnTo>
                    <a:pt x="650862" y="193281"/>
                  </a:lnTo>
                  <a:lnTo>
                    <a:pt x="0" y="193281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50862" cy="193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11491" y="1390748"/>
            <a:ext cx="5777457" cy="806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5399" dirty="0">
                <a:solidFill>
                  <a:srgbClr val="FFFFFF"/>
                </a:solidFill>
                <a:latin typeface="Myriad Pro 2"/>
              </a:rPr>
              <a:t>CONTEXT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58461" y="165052"/>
            <a:ext cx="6897976" cy="64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6" lvl="1" indent="-410208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57B6B2"/>
                </a:solidFill>
                <a:latin typeface="Myriad Pro 1"/>
              </a:rPr>
              <a:t>Time allocated: (3 minutes)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23DED3-A28B-8EF6-85EB-2564A740E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3" b="196"/>
          <a:stretch>
            <a:fillRect/>
          </a:stretch>
        </p:blipFill>
        <p:spPr>
          <a:xfrm>
            <a:off x="390092" y="2604221"/>
            <a:ext cx="6933763" cy="50859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A82448-A8F7-D7ED-332F-F7A6CA4DE491}"/>
              </a:ext>
            </a:extLst>
          </p:cNvPr>
          <p:cNvSpPr txBox="1"/>
          <p:nvPr/>
        </p:nvSpPr>
        <p:spPr>
          <a:xfrm>
            <a:off x="7542068" y="2589069"/>
            <a:ext cx="10399567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2800" kern="1200">
                <a:solidFill>
                  <a:srgbClr val="57B6B2"/>
                </a:solidFill>
                <a:latin typeface="Myriad Pro 1"/>
                <a:ea typeface="+mn-ea"/>
                <a:cs typeface="+mn-cs"/>
              </a:rPr>
              <a:t>Why is there a current need for a PW loan?</a:t>
            </a:r>
          </a:p>
          <a:p>
            <a:pPr marL="822960" indent="-411480">
              <a:buFont typeface="Arial"/>
              <a:buChar char="•"/>
            </a:pPr>
            <a:r>
              <a:rPr lang="en-US" sz="2800" kern="1200">
                <a:solidFill>
                  <a:srgbClr val="57B6B2"/>
                </a:solidFill>
                <a:latin typeface="Myriad Pro 1"/>
                <a:ea typeface="+mn-ea"/>
                <a:cs typeface="+mn-cs"/>
              </a:rPr>
              <a:t>PEAK's current $187,889 loan portfolio is healthy — only 0.98% overdue — but capital is the binding constraint on growth.</a:t>
            </a: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22960" indent="-411480" algn="l">
              <a:buFont typeface="Arial"/>
              <a:buChar char="•"/>
            </a:pPr>
            <a:r>
              <a:rPr lang="en-US" sz="2800" kern="1200">
                <a:solidFill>
                  <a:srgbClr val="57B6B2"/>
                </a:solidFill>
                <a:latin typeface="Myriad Pro 1"/>
                <a:ea typeface="+mn-ea"/>
                <a:cs typeface="+mn-cs"/>
              </a:rPr>
              <a:t>This facility would extend affordable credit to 2,000+ underserved customers, 70%+ of them women and youth</a:t>
            </a:r>
            <a:endParaRPr lang="en-GB">
              <a:ea typeface="Calibri"/>
              <a:cs typeface="Calibri"/>
            </a:endParaRPr>
          </a:p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580" y="211893"/>
            <a:ext cx="3694736" cy="712076"/>
          </a:xfrm>
          <a:custGeom>
            <a:avLst/>
            <a:gdLst/>
            <a:ahLst/>
            <a:cxnLst/>
            <a:rect l="l" t="t" r="r" b="b"/>
            <a:pathLst>
              <a:path w="3694736" h="712076">
                <a:moveTo>
                  <a:pt x="0" y="0"/>
                </a:moveTo>
                <a:lnTo>
                  <a:pt x="3694736" y="0"/>
                </a:lnTo>
                <a:lnTo>
                  <a:pt x="3694736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grpSp>
        <p:nvGrpSpPr>
          <p:cNvPr id="3" name="Group 3"/>
          <p:cNvGrpSpPr/>
          <p:nvPr/>
        </p:nvGrpSpPr>
        <p:grpSpPr>
          <a:xfrm>
            <a:off x="541861" y="1415915"/>
            <a:ext cx="5898695" cy="742522"/>
            <a:chOff x="0" y="0"/>
            <a:chExt cx="956053" cy="1932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6053" cy="193281"/>
            </a:xfrm>
            <a:custGeom>
              <a:avLst/>
              <a:gdLst/>
              <a:ahLst/>
              <a:cxnLst/>
              <a:rect l="l" t="t" r="r" b="b"/>
              <a:pathLst>
                <a:path w="956053" h="193281">
                  <a:moveTo>
                    <a:pt x="0" y="0"/>
                  </a:moveTo>
                  <a:lnTo>
                    <a:pt x="956053" y="0"/>
                  </a:lnTo>
                  <a:lnTo>
                    <a:pt x="956053" y="193281"/>
                  </a:lnTo>
                  <a:lnTo>
                    <a:pt x="0" y="193281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956053" cy="193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14339" y="1416989"/>
            <a:ext cx="8747956" cy="5941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solidFill>
                  <a:srgbClr val="57B6B2"/>
                </a:solidFill>
                <a:latin typeface="Myriad Pro 1"/>
              </a:rPr>
              <a:t>PEAK Empowerment &amp; Development Foundation — a Nigerian NGO-MFI established in 2021.</a:t>
            </a:r>
            <a:endParaRPr lang="en-US"/>
          </a:p>
          <a:p>
            <a:endParaRPr lang="en-US" sz="2400" dirty="0">
              <a:solidFill>
                <a:srgbClr val="57B6B2"/>
              </a:solidFill>
              <a:latin typeface="Myriad Pro 1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57B6B2"/>
                </a:solidFill>
                <a:latin typeface="Myriad Pro 1"/>
              </a:rPr>
              <a:t>Focus: microcredit, enterprise financing, savings </a:t>
            </a:r>
            <a:r>
              <a:rPr lang="en-US" sz="2400" err="1">
                <a:solidFill>
                  <a:srgbClr val="57B6B2"/>
                </a:solidFill>
                <a:latin typeface="Myriad Pro 1"/>
              </a:rPr>
              <a:t>mobilisation</a:t>
            </a:r>
            <a:r>
              <a:rPr lang="en-US" sz="2400" dirty="0">
                <a:solidFill>
                  <a:srgbClr val="57B6B2"/>
                </a:solidFill>
                <a:latin typeface="Myriad Pro 1"/>
              </a:rPr>
              <a:t>, financial literacy and digital financial </a:t>
            </a:r>
            <a:r>
              <a:rPr lang="en-US" sz="2400">
                <a:solidFill>
                  <a:srgbClr val="57B6B2"/>
                </a:solidFill>
                <a:latin typeface="Myriad Pro 1"/>
              </a:rPr>
              <a:t>services for underserved communities.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57B6B2"/>
              </a:solidFill>
              <a:latin typeface="Myriad Pro 1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57B6B2"/>
                </a:solidFill>
                <a:latin typeface="Myriad Pro 1"/>
              </a:rPr>
              <a:t>5 credit products — </a:t>
            </a:r>
            <a:r>
              <a:rPr lang="en-US" sz="2400" err="1">
                <a:solidFill>
                  <a:srgbClr val="57B6B2"/>
                </a:solidFill>
                <a:latin typeface="Myriad Pro 1"/>
              </a:rPr>
              <a:t>MiniMonie</a:t>
            </a:r>
            <a:r>
              <a:rPr lang="en-US" sz="2400" dirty="0">
                <a:solidFill>
                  <a:srgbClr val="57B6B2"/>
                </a:solidFill>
                <a:latin typeface="Myriad Pro 1"/>
              </a:rPr>
              <a:t>, </a:t>
            </a:r>
            <a:r>
              <a:rPr lang="en-US" sz="2400" err="1">
                <a:solidFill>
                  <a:srgbClr val="57B6B2"/>
                </a:solidFill>
                <a:latin typeface="Myriad Pro 1"/>
              </a:rPr>
              <a:t>PeakLite</a:t>
            </a:r>
            <a:r>
              <a:rPr lang="en-US" sz="2400" dirty="0">
                <a:solidFill>
                  <a:srgbClr val="57B6B2"/>
                </a:solidFill>
                <a:latin typeface="Myriad Pro 1"/>
              </a:rPr>
              <a:t>/</a:t>
            </a:r>
            <a:r>
              <a:rPr lang="en-US" sz="2400" err="1">
                <a:solidFill>
                  <a:srgbClr val="57B6B2"/>
                </a:solidFill>
                <a:latin typeface="Myriad Pro 1"/>
              </a:rPr>
              <a:t>MicroGroup</a:t>
            </a:r>
            <a:r>
              <a:rPr lang="en-US" sz="2400" dirty="0">
                <a:solidFill>
                  <a:srgbClr val="57B6B2"/>
                </a:solidFill>
                <a:latin typeface="Myriad Pro 1"/>
              </a:rPr>
              <a:t>, Sabi Trader, SME and </a:t>
            </a:r>
            <a:r>
              <a:rPr lang="en-US" sz="2400" err="1">
                <a:solidFill>
                  <a:srgbClr val="57B6B2"/>
                </a:solidFill>
                <a:latin typeface="Myriad Pro 1"/>
              </a:rPr>
              <a:t>BetaBiz</a:t>
            </a:r>
            <a:r>
              <a:rPr lang="en-US" sz="2400" dirty="0">
                <a:solidFill>
                  <a:srgbClr val="57B6B2"/>
                </a:solidFill>
                <a:latin typeface="Myriad Pro 1"/>
              </a:rPr>
              <a:t> — plus </a:t>
            </a:r>
            <a:r>
              <a:rPr lang="en-US" sz="2400">
                <a:solidFill>
                  <a:srgbClr val="57B6B2"/>
                </a:solidFill>
                <a:latin typeface="Myriad Pro 1"/>
              </a:rPr>
              <a:t>savings at 17% p.a., agency banking and micro-health insurance partnerships.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57B6B2"/>
              </a:solidFill>
              <a:latin typeface="Myriad Pro 1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57B6B2"/>
                </a:solidFill>
                <a:latin typeface="Myriad Pro 1"/>
              </a:rPr>
              <a:t>This facility funds PEAK's core lending book — the engine behind all five credit products.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57B6B2"/>
              </a:solidFill>
              <a:latin typeface="Myriad Pro 1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57B6B2"/>
                </a:solidFill>
                <a:latin typeface="Myriad Pro 1"/>
              </a:rPr>
              <a:t>Governed by a Board of Trustees; led day-to-day by CEO Joe Onyeabor and Executive Director Abiodun Yusuph.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57B6B2"/>
              </a:solidFill>
              <a:latin typeface="Myriad Pro 1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57B6B2"/>
                </a:solidFill>
                <a:latin typeface="Myriad Pro 1"/>
              </a:rPr>
              <a:t>70+ staff across 6 functional teams: credit &amp; field operations, branch operations, human capital, customer service and partnerships.</a:t>
            </a:r>
            <a:endParaRPr lang="en-US">
              <a:ea typeface="Calibri"/>
              <a:cs typeface="Calibri"/>
            </a:endParaRPr>
          </a:p>
          <a:p>
            <a:pPr algn="l">
              <a:lnSpc>
                <a:spcPct val="114999"/>
              </a:lnSpc>
            </a:pPr>
            <a:endParaRPr lang="en-US" sz="2400" dirty="0">
              <a:solidFill>
                <a:srgbClr val="57B6B2"/>
              </a:solidFill>
              <a:latin typeface="Myriad Pro 1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1491" y="1408066"/>
            <a:ext cx="5204412" cy="748181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FFFFFF"/>
                </a:solidFill>
                <a:latin typeface="Myriad Pro 2"/>
              </a:rPr>
              <a:t>LCI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25507" y="165052"/>
            <a:ext cx="7348248" cy="64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6" lvl="1" indent="-410208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57B6B2"/>
                </a:solidFill>
                <a:latin typeface="Myriad Pro 1"/>
              </a:rPr>
              <a:t>Time allocated: (2 minutes)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4F7E31-EA29-EBA2-E061-3B151C7F51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5"/>
          <a:stretch>
            <a:fillRect/>
          </a:stretch>
        </p:blipFill>
        <p:spPr>
          <a:xfrm>
            <a:off x="540327" y="2568720"/>
            <a:ext cx="7162800" cy="5696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580" y="211893"/>
            <a:ext cx="3694736" cy="712076"/>
          </a:xfrm>
          <a:custGeom>
            <a:avLst/>
            <a:gdLst/>
            <a:ahLst/>
            <a:cxnLst/>
            <a:rect l="l" t="t" r="r" b="b"/>
            <a:pathLst>
              <a:path w="3694736" h="712076">
                <a:moveTo>
                  <a:pt x="0" y="0"/>
                </a:moveTo>
                <a:lnTo>
                  <a:pt x="3694736" y="0"/>
                </a:lnTo>
                <a:lnTo>
                  <a:pt x="3694736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grpSp>
        <p:nvGrpSpPr>
          <p:cNvPr id="3" name="Group 3"/>
          <p:cNvGrpSpPr/>
          <p:nvPr/>
        </p:nvGrpSpPr>
        <p:grpSpPr>
          <a:xfrm>
            <a:off x="541861" y="1407256"/>
            <a:ext cx="7165525" cy="751181"/>
            <a:chOff x="0" y="0"/>
            <a:chExt cx="1417416" cy="1932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17416" cy="193281"/>
            </a:xfrm>
            <a:custGeom>
              <a:avLst/>
              <a:gdLst/>
              <a:ahLst/>
              <a:cxnLst/>
              <a:rect l="l" t="t" r="r" b="b"/>
              <a:pathLst>
                <a:path w="1417416" h="193281">
                  <a:moveTo>
                    <a:pt x="0" y="0"/>
                  </a:moveTo>
                  <a:lnTo>
                    <a:pt x="1417416" y="0"/>
                  </a:lnTo>
                  <a:lnTo>
                    <a:pt x="1417416" y="193281"/>
                  </a:lnTo>
                  <a:lnTo>
                    <a:pt x="0" y="193281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417416" cy="193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29155" y="2893118"/>
            <a:ext cx="8912478" cy="5158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200">
                <a:solidFill>
                  <a:srgbClr val="57B6B2"/>
                </a:solidFill>
                <a:latin typeface="Myriad Pro 1"/>
              </a:rPr>
              <a:t>an official Partners Worldwide LCI since 2023 — this is PEAK's second facility request.</a:t>
            </a:r>
            <a:endParaRPr lang="en-US"/>
          </a:p>
          <a:p>
            <a:endParaRPr lang="en-US" sz="2200" dirty="0">
              <a:solidFill>
                <a:srgbClr val="57B6B2"/>
              </a:solidFill>
              <a:latin typeface="Myriad Pro 1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rgbClr val="57B6B2"/>
                </a:solidFill>
                <a:latin typeface="Myriad Pro 1"/>
              </a:rPr>
              <a:t>BA Team: Letter of Recommendation submitted; response pending at the time of this submission.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57B6B2"/>
              </a:solidFill>
              <a:latin typeface="Myriad Pro 1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rgbClr val="57B6B2"/>
                </a:solidFill>
                <a:latin typeface="Myriad Pro 1"/>
              </a:rPr>
              <a:t>Prior PW support: a $100,000 loan facility and a $20,000 Digital LEAP Grant — both fully repaid / fully utilized, no issues recorded.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57B6B2"/>
              </a:solidFill>
              <a:latin typeface="Myriad Pro 1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rgbClr val="57B6B2"/>
                </a:solidFill>
                <a:latin typeface="Myriad Pro 1"/>
              </a:rPr>
              <a:t>2025 was the year PEAK's lending operation turned: the loan book grew 54% to $217,485, after being flat across 2023–2024.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57B6B2"/>
              </a:solidFill>
              <a:latin typeface="Myriad Pro 1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rgbClr val="57B6B2"/>
                </a:solidFill>
                <a:latin typeface="Myriad Pro 1"/>
              </a:rPr>
              <a:t>Total assets up 26% to $495,531; accumulated funds up 72% to $176,628.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57B6B2"/>
              </a:solidFill>
              <a:latin typeface="Myriad Pro 1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rgbClr val="57B6B2"/>
                </a:solidFill>
                <a:latin typeface="Myriad Pro 1"/>
              </a:rPr>
              <a:t>Leverage improved from 2.3x accumulated funds (end-2024) to 1.4x (end-2025) — this facility would take it to ~3x, vs ~5x had it been granted a year ago.</a:t>
            </a:r>
            <a:endParaRPr lang="en-US">
              <a:ea typeface="Calibri"/>
              <a:cs typeface="Calibri"/>
            </a:endParaRPr>
          </a:p>
          <a:p>
            <a:pPr algn="l">
              <a:lnSpc>
                <a:spcPct val="114999"/>
              </a:lnSpc>
            </a:pPr>
            <a:endParaRPr lang="en-US" sz="2500" dirty="0">
              <a:solidFill>
                <a:srgbClr val="57B6B2"/>
              </a:solidFill>
              <a:latin typeface="Myriad Pro 1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5583" y="1390748"/>
            <a:ext cx="8273349" cy="1189794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FFFFFF"/>
                </a:solidFill>
                <a:latin typeface="Myriad Pro 2"/>
              </a:rPr>
              <a:t>LCI HISTORY WITH PW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3847" y="130416"/>
            <a:ext cx="4689908" cy="72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6" lvl="1" indent="-410208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57B6B2"/>
                </a:solidFill>
                <a:latin typeface="Myriad Pro 1"/>
              </a:rPr>
              <a:t>Time allocated: (3 minutes)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B3A469-29D9-4700-179E-16226A6763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4223" y="2895600"/>
            <a:ext cx="7362825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580" y="211893"/>
            <a:ext cx="3694736" cy="712076"/>
          </a:xfrm>
          <a:custGeom>
            <a:avLst/>
            <a:gdLst/>
            <a:ahLst/>
            <a:cxnLst/>
            <a:rect l="l" t="t" r="r" b="b"/>
            <a:pathLst>
              <a:path w="3694736" h="712076">
                <a:moveTo>
                  <a:pt x="0" y="0"/>
                </a:moveTo>
                <a:lnTo>
                  <a:pt x="3694736" y="0"/>
                </a:lnTo>
                <a:lnTo>
                  <a:pt x="3694736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sp>
        <p:nvSpPr>
          <p:cNvPr id="8" name="TextBox 8"/>
          <p:cNvSpPr txBox="1"/>
          <p:nvPr/>
        </p:nvSpPr>
        <p:spPr>
          <a:xfrm>
            <a:off x="10642178" y="1329416"/>
            <a:ext cx="7053839" cy="64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6" lvl="1" indent="-410208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57B6B2"/>
                </a:solidFill>
                <a:latin typeface="Myriad Pro 1"/>
              </a:rPr>
              <a:t>Time allocated: (2 minutes)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777240"/>
            <a:ext cx="1554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B3B3E"/>
                </a:solidFill>
                <a:latin typeface="Myriad Pro 2"/>
              </a:rPr>
              <a:t>PM, BA &amp; LCI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00200"/>
            <a:ext cx="1600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555555"/>
                </a:solidFill>
                <a:latin typeface="Myriad Pro 1"/>
              </a:rPr>
              <a:t>Why a PW loan is the right next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1463040" cy="38100"/>
          </a:xfrm>
          <a:prstGeom prst="rect">
            <a:avLst/>
          </a:prstGeom>
          <a:solidFill>
            <a:srgbClr val="F0A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606040"/>
            <a:ext cx="16861536" cy="2148840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0" b="1" i="0">
                <a:solidFill>
                  <a:srgbClr val="F0A61E"/>
                </a:solidFill>
                <a:latin typeface="Myriad Pro 2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80360"/>
            <a:ext cx="1508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1">
                <a:solidFill>
                  <a:srgbClr val="0B3B3E"/>
                </a:solidFill>
                <a:latin typeface="Myriad Pro 1"/>
              </a:rPr>
              <a:t>PEAK did what it said it would do with the first cycle — the strongest case I can make for a second.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160520"/>
            <a:ext cx="1508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555555"/>
                </a:solidFill>
                <a:latin typeface="Myriad Pro 1"/>
              </a:rPr>
              <a:t>— Jeremiah Akoyere, Partnership Manager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166360"/>
            <a:ext cx="5340096" cy="274320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440680"/>
            <a:ext cx="4791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0A61E"/>
                </a:solidFill>
                <a:latin typeface="Myriad Pro 2"/>
              </a:rPr>
              <a:t>BA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6035040"/>
            <a:ext cx="479145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FFFFF"/>
                </a:solidFill>
                <a:latin typeface="Myriad Pro 1"/>
              </a:rPr>
              <a:t>No material concerns raised; fully supportive of this application.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5166360"/>
            <a:ext cx="5340096" cy="274320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5440680"/>
            <a:ext cx="4791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0A61E"/>
                </a:solidFill>
                <a:latin typeface="Myriad Pro 2"/>
              </a:rPr>
              <a:t>REGIONAL DIRECTOR (RD)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6035040"/>
            <a:ext cx="479145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FFFFF"/>
                </a:solidFill>
                <a:latin typeface="Myriad Pro 1"/>
              </a:rPr>
              <a:t>Also supportive of this application, with no material concerns raised.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68912" y="5166360"/>
            <a:ext cx="5340096" cy="274320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43232" y="5440680"/>
            <a:ext cx="4791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0A61E"/>
                </a:solidFill>
                <a:latin typeface="Myriad Pro 2"/>
              </a:rPr>
              <a:t>IN-COUNTRY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43232" y="6035040"/>
            <a:ext cx="479145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FFFFF"/>
                </a:solidFill>
                <a:latin typeface="Myriad Pro 1"/>
              </a:rPr>
              <a:t>BA Team engaged PEAK in person in Nigeria, with strong willingness to help strengthen the loan portfolio.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68999" y="8586528"/>
            <a:ext cx="973677" cy="1133831"/>
          </a:xfrm>
          <a:custGeom>
            <a:avLst/>
            <a:gdLst/>
            <a:ahLst/>
            <a:cxnLst/>
            <a:rect l="l" t="t" r="r" b="b"/>
            <a:pathLst>
              <a:path w="973677" h="1133831">
                <a:moveTo>
                  <a:pt x="0" y="0"/>
                </a:moveTo>
                <a:lnTo>
                  <a:pt x="973678" y="0"/>
                </a:lnTo>
                <a:lnTo>
                  <a:pt x="973678" y="1133831"/>
                </a:lnTo>
                <a:lnTo>
                  <a:pt x="0" y="1133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sp>
        <p:nvSpPr>
          <p:cNvPr id="3" name="Freeform 3"/>
          <p:cNvSpPr/>
          <p:nvPr/>
        </p:nvSpPr>
        <p:spPr>
          <a:xfrm>
            <a:off x="164580" y="211893"/>
            <a:ext cx="3694736" cy="712076"/>
          </a:xfrm>
          <a:custGeom>
            <a:avLst/>
            <a:gdLst/>
            <a:ahLst/>
            <a:cxnLst/>
            <a:rect l="l" t="t" r="r" b="b"/>
            <a:pathLst>
              <a:path w="3694736" h="712076">
                <a:moveTo>
                  <a:pt x="0" y="0"/>
                </a:moveTo>
                <a:lnTo>
                  <a:pt x="3694736" y="0"/>
                </a:lnTo>
                <a:lnTo>
                  <a:pt x="3694736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grpSp>
        <p:nvGrpSpPr>
          <p:cNvPr id="4" name="Group 4"/>
          <p:cNvGrpSpPr/>
          <p:nvPr/>
        </p:nvGrpSpPr>
        <p:grpSpPr>
          <a:xfrm>
            <a:off x="541861" y="3027002"/>
            <a:ext cx="6010925" cy="2358859"/>
            <a:chOff x="0" y="0"/>
            <a:chExt cx="1583124" cy="6212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3124" cy="621263"/>
            </a:xfrm>
            <a:custGeom>
              <a:avLst/>
              <a:gdLst/>
              <a:ahLst/>
              <a:cxnLst/>
              <a:rect l="l" t="t" r="r" b="b"/>
              <a:pathLst>
                <a:path w="1583124" h="621263">
                  <a:moveTo>
                    <a:pt x="0" y="0"/>
                  </a:moveTo>
                  <a:lnTo>
                    <a:pt x="1583124" y="0"/>
                  </a:lnTo>
                  <a:lnTo>
                    <a:pt x="1583124" y="621263"/>
                  </a:lnTo>
                  <a:lnTo>
                    <a:pt x="0" y="621263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583124" cy="621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3944" y="3294445"/>
            <a:ext cx="1058004" cy="1058004"/>
            <a:chOff x="0" y="0"/>
            <a:chExt cx="1410672" cy="141067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410672" cy="1410672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5A800"/>
              </a:solidFill>
            </p:spPr>
            <p:txBody>
              <a:bodyPr/>
              <a:lstStyle/>
              <a:p>
                <a:endParaRPr lang="en-H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347217" y="361094"/>
              <a:ext cx="716239" cy="688484"/>
            </a:xfrm>
            <a:custGeom>
              <a:avLst/>
              <a:gdLst/>
              <a:ahLst/>
              <a:cxnLst/>
              <a:rect l="l" t="t" r="r" b="b"/>
              <a:pathLst>
                <a:path w="716239" h="688484">
                  <a:moveTo>
                    <a:pt x="0" y="0"/>
                  </a:moveTo>
                  <a:lnTo>
                    <a:pt x="716238" y="0"/>
                  </a:lnTo>
                  <a:lnTo>
                    <a:pt x="716238" y="688484"/>
                  </a:lnTo>
                  <a:lnTo>
                    <a:pt x="0" y="688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H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1861" y="1290440"/>
            <a:ext cx="6010925" cy="733863"/>
            <a:chOff x="0" y="0"/>
            <a:chExt cx="1583124" cy="1932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83124" cy="193281"/>
            </a:xfrm>
            <a:custGeom>
              <a:avLst/>
              <a:gdLst/>
              <a:ahLst/>
              <a:cxnLst/>
              <a:rect l="l" t="t" r="r" b="b"/>
              <a:pathLst>
                <a:path w="1583124" h="193281">
                  <a:moveTo>
                    <a:pt x="0" y="0"/>
                  </a:moveTo>
                  <a:lnTo>
                    <a:pt x="1583124" y="0"/>
                  </a:lnTo>
                  <a:lnTo>
                    <a:pt x="1583124" y="193281"/>
                  </a:lnTo>
                  <a:lnTo>
                    <a:pt x="0" y="193281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583124" cy="193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5079" y="3027002"/>
            <a:ext cx="10370759" cy="6013693"/>
            <a:chOff x="0" y="0"/>
            <a:chExt cx="2731393" cy="15838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31393" cy="1583853"/>
            </a:xfrm>
            <a:custGeom>
              <a:avLst/>
              <a:gdLst/>
              <a:ahLst/>
              <a:cxnLst/>
              <a:rect l="l" t="t" r="r" b="b"/>
              <a:pathLst>
                <a:path w="2731393" h="1583853">
                  <a:moveTo>
                    <a:pt x="0" y="0"/>
                  </a:moveTo>
                  <a:lnTo>
                    <a:pt x="2731393" y="0"/>
                  </a:lnTo>
                  <a:lnTo>
                    <a:pt x="2731393" y="1583853"/>
                  </a:lnTo>
                  <a:lnTo>
                    <a:pt x="0" y="1583853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731393" cy="1583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96092" y="3294445"/>
            <a:ext cx="1058004" cy="1058004"/>
            <a:chOff x="0" y="0"/>
            <a:chExt cx="1410672" cy="141067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410672" cy="1410672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5A800"/>
              </a:solidFill>
            </p:spPr>
            <p:txBody>
              <a:bodyPr/>
              <a:lstStyle/>
              <a:p>
                <a:endParaRPr lang="en-H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361094" y="365596"/>
              <a:ext cx="688484" cy="688484"/>
            </a:xfrm>
            <a:custGeom>
              <a:avLst/>
              <a:gdLst/>
              <a:ahLst/>
              <a:cxnLst/>
              <a:rect l="l" t="t" r="r" b="b"/>
              <a:pathLst>
                <a:path w="688484" h="688484">
                  <a:moveTo>
                    <a:pt x="0" y="0"/>
                  </a:moveTo>
                  <a:lnTo>
                    <a:pt x="688484" y="0"/>
                  </a:lnTo>
                  <a:lnTo>
                    <a:pt x="688484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H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41861" y="5562989"/>
            <a:ext cx="6010925" cy="3477706"/>
            <a:chOff x="0" y="0"/>
            <a:chExt cx="1583124" cy="91593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83124" cy="915939"/>
            </a:xfrm>
            <a:custGeom>
              <a:avLst/>
              <a:gdLst/>
              <a:ahLst/>
              <a:cxnLst/>
              <a:rect l="l" t="t" r="r" b="b"/>
              <a:pathLst>
                <a:path w="1583124" h="915939">
                  <a:moveTo>
                    <a:pt x="0" y="0"/>
                  </a:moveTo>
                  <a:lnTo>
                    <a:pt x="1583124" y="0"/>
                  </a:lnTo>
                  <a:lnTo>
                    <a:pt x="1583124" y="915939"/>
                  </a:lnTo>
                  <a:lnTo>
                    <a:pt x="0" y="915939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1583124" cy="915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3944" y="5830432"/>
            <a:ext cx="1058004" cy="105800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A800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177506" y="6053994"/>
            <a:ext cx="610880" cy="610880"/>
          </a:xfrm>
          <a:custGeom>
            <a:avLst/>
            <a:gdLst/>
            <a:ahLst/>
            <a:cxnLst/>
            <a:rect l="l" t="t" r="r" b="b"/>
            <a:pathLst>
              <a:path w="610880" h="610880">
                <a:moveTo>
                  <a:pt x="0" y="0"/>
                </a:moveTo>
                <a:lnTo>
                  <a:pt x="610880" y="0"/>
                </a:lnTo>
                <a:lnTo>
                  <a:pt x="610880" y="610880"/>
                </a:lnTo>
                <a:lnTo>
                  <a:pt x="0" y="610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sp>
        <p:nvSpPr>
          <p:cNvPr id="30" name="TextBox 30"/>
          <p:cNvSpPr txBox="1"/>
          <p:nvPr/>
        </p:nvSpPr>
        <p:spPr>
          <a:xfrm>
            <a:off x="719525" y="1254092"/>
            <a:ext cx="5655597" cy="1215771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FFFFFF"/>
                </a:solidFill>
                <a:latin typeface="Myriad Pro 2"/>
              </a:rPr>
              <a:t>APPLICATION SUMMARY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62838" y="1220004"/>
            <a:ext cx="7189552" cy="64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6" lvl="1" indent="-410208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57B6B2"/>
                </a:solidFill>
                <a:latin typeface="Myriad Pro 1"/>
              </a:rPr>
              <a:t>Time allocated: (3 minutes)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18207" y="3504359"/>
            <a:ext cx="367914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Myriad Pro 2"/>
              </a:rPr>
              <a:t>LOAN AMOUNT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02869" y="4351922"/>
            <a:ext cx="3873620" cy="58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4000">
                <a:solidFill>
                  <a:srgbClr val="FFFFFF"/>
                </a:solidFill>
                <a:latin typeface="Myriad Pro 1"/>
              </a:rPr>
              <a:t>US$280,000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58896" y="3504359"/>
            <a:ext cx="407860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Myriad Pro 2"/>
              </a:rPr>
              <a:t>LOAN PURPOSE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80119" y="4623336"/>
            <a:ext cx="9435207" cy="1130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1500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FFFF"/>
                </a:solidFill>
                <a:latin typeface="Myriad Pro 1"/>
              </a:rPr>
              <a:t>100% deployed into PEAK's lending portfolio — expanding affordable credit for women-owned businesses, youth entrepreneurs, rural traders, artisans and SMEs.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318206" y="6040346"/>
            <a:ext cx="3701593" cy="488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dirty="0">
                <a:solidFill>
                  <a:srgbClr val="FFFFFF"/>
                </a:solidFill>
                <a:latin typeface="Myriad Pro 2"/>
              </a:rPr>
              <a:t>LOAN REPORTING METHOD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3944" y="7291153"/>
            <a:ext cx="5421178" cy="1130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200">
                <a:solidFill>
                  <a:srgbClr val="FFFFFF"/>
                </a:solidFill>
                <a:latin typeface="Myriad Pro 1"/>
              </a:rPr>
              <a:t>Mid-term review and evaluation to affirm continuance of the loan, alongside regular reporting on portfolio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0532" y="1526130"/>
            <a:ext cx="13707795" cy="90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79"/>
              </a:lnSpc>
            </a:pPr>
            <a:r>
              <a:rPr lang="en-US" sz="5999">
                <a:solidFill>
                  <a:srgbClr val="57B6B2"/>
                </a:solidFill>
                <a:latin typeface="Myriad Pro 2"/>
              </a:rPr>
              <a:t>PROPOSED FUNDING TERMS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43177" y="4109239"/>
            <a:ext cx="3332840" cy="3441323"/>
            <a:chOff x="0" y="0"/>
            <a:chExt cx="919432" cy="949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9432" cy="949359"/>
            </a:xfrm>
            <a:custGeom>
              <a:avLst/>
              <a:gdLst/>
              <a:ahLst/>
              <a:cxnLst/>
              <a:rect l="l" t="t" r="r" b="b"/>
              <a:pathLst>
                <a:path w="919432" h="949359">
                  <a:moveTo>
                    <a:pt x="0" y="0"/>
                  </a:moveTo>
                  <a:lnTo>
                    <a:pt x="919432" y="0"/>
                  </a:lnTo>
                  <a:lnTo>
                    <a:pt x="919432" y="949359"/>
                  </a:lnTo>
                  <a:lnTo>
                    <a:pt x="0" y="949359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19432" cy="98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931395" y="4109239"/>
            <a:ext cx="3332840" cy="3441323"/>
            <a:chOff x="0" y="0"/>
            <a:chExt cx="919432" cy="9493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9432" cy="949359"/>
            </a:xfrm>
            <a:custGeom>
              <a:avLst/>
              <a:gdLst/>
              <a:ahLst/>
              <a:cxnLst/>
              <a:rect l="l" t="t" r="r" b="b"/>
              <a:pathLst>
                <a:path w="919432" h="949359">
                  <a:moveTo>
                    <a:pt x="0" y="0"/>
                  </a:moveTo>
                  <a:lnTo>
                    <a:pt x="919432" y="0"/>
                  </a:lnTo>
                  <a:lnTo>
                    <a:pt x="919432" y="949359"/>
                  </a:lnTo>
                  <a:lnTo>
                    <a:pt x="0" y="949359"/>
                  </a:lnTo>
                  <a:close/>
                </a:path>
              </a:pathLst>
            </a:custGeom>
            <a:solidFill>
              <a:srgbClr val="00444D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19432" cy="98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15689" y="4109239"/>
            <a:ext cx="3332840" cy="3441323"/>
            <a:chOff x="0" y="0"/>
            <a:chExt cx="919432" cy="9493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9432" cy="949359"/>
            </a:xfrm>
            <a:custGeom>
              <a:avLst/>
              <a:gdLst/>
              <a:ahLst/>
              <a:cxnLst/>
              <a:rect l="l" t="t" r="r" b="b"/>
              <a:pathLst>
                <a:path w="919432" h="949359">
                  <a:moveTo>
                    <a:pt x="0" y="0"/>
                  </a:moveTo>
                  <a:lnTo>
                    <a:pt x="919432" y="0"/>
                  </a:lnTo>
                  <a:lnTo>
                    <a:pt x="919432" y="949359"/>
                  </a:lnTo>
                  <a:lnTo>
                    <a:pt x="0" y="949359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19432" cy="98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065721" y="4109239"/>
            <a:ext cx="3332840" cy="3441323"/>
            <a:chOff x="0" y="0"/>
            <a:chExt cx="919432" cy="9493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9432" cy="949359"/>
            </a:xfrm>
            <a:custGeom>
              <a:avLst/>
              <a:gdLst/>
              <a:ahLst/>
              <a:cxnLst/>
              <a:rect l="l" t="t" r="r" b="b"/>
              <a:pathLst>
                <a:path w="919432" h="949359">
                  <a:moveTo>
                    <a:pt x="0" y="0"/>
                  </a:moveTo>
                  <a:lnTo>
                    <a:pt x="919432" y="0"/>
                  </a:lnTo>
                  <a:lnTo>
                    <a:pt x="919432" y="949359"/>
                  </a:lnTo>
                  <a:lnTo>
                    <a:pt x="0" y="949359"/>
                  </a:lnTo>
                  <a:close/>
                </a:path>
              </a:pathLst>
            </a:custGeom>
            <a:solidFill>
              <a:srgbClr val="00444D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19432" cy="98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04557" y="3604199"/>
            <a:ext cx="1010080" cy="101008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A800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96635" y="5640977"/>
            <a:ext cx="3061860" cy="757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200">
                <a:solidFill>
                  <a:srgbClr val="FFFFFF"/>
                </a:solidFill>
                <a:latin typeface="Myriad Pro 1"/>
              </a:rPr>
              <a:t>Deployed across PEAK's lending book to reach 2,000+ customers.</a:t>
            </a:r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770544" y="4694768"/>
            <a:ext cx="2478107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2600">
                <a:solidFill>
                  <a:srgbClr val="FFFFFF"/>
                </a:solidFill>
                <a:latin typeface="Myriad Pro 2"/>
              </a:rPr>
              <a:t>LOAN DISTRIBUTION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0951" y="3801981"/>
            <a:ext cx="637293" cy="50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2"/>
              </a:lnSpc>
            </a:pPr>
            <a:r>
              <a:rPr lang="en-US" sz="2673">
                <a:solidFill>
                  <a:srgbClr val="FFFFFF"/>
                </a:solidFill>
                <a:latin typeface="Myriad Pro 2"/>
              </a:rPr>
              <a:t>01.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677069" y="3604199"/>
            <a:ext cx="1010080" cy="101008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A800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103832" y="4650088"/>
            <a:ext cx="2080336" cy="49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ct val="1100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FFFFFF"/>
                </a:solidFill>
                <a:latin typeface="Myriad Pro 2"/>
              </a:rPr>
              <a:t>REPAYMENT TERM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095002" y="3604199"/>
            <a:ext cx="1010080" cy="101008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A800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281396" y="3801981"/>
            <a:ext cx="637293" cy="50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2"/>
              </a:lnSpc>
              <a:spcBef>
                <a:spcPct val="0"/>
              </a:spcBef>
            </a:pPr>
            <a:r>
              <a:rPr lang="en-US" sz="2673" u="none" strike="noStrike">
                <a:solidFill>
                  <a:srgbClr val="FFFFFF"/>
                </a:solidFill>
                <a:latin typeface="Myriad Pro 2"/>
              </a:rPr>
              <a:t>02.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63463" y="3801981"/>
            <a:ext cx="637293" cy="50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2"/>
              </a:lnSpc>
              <a:spcBef>
                <a:spcPct val="0"/>
              </a:spcBef>
            </a:pPr>
            <a:r>
              <a:rPr lang="en-US" sz="2673" u="none" strike="noStrike">
                <a:solidFill>
                  <a:srgbClr val="FFFFFF"/>
                </a:solidFill>
                <a:latin typeface="Myriad Pro 2"/>
              </a:rPr>
              <a:t>03.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5278" y="4780226"/>
            <a:ext cx="3094985" cy="412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100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FFFFFF"/>
                </a:solidFill>
                <a:latin typeface="Myriad Pro 2"/>
              </a:rPr>
              <a:t>INTEREST RATE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227101" y="3604199"/>
            <a:ext cx="1010080" cy="101008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A800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413494" y="3801981"/>
            <a:ext cx="637293" cy="50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2"/>
              </a:lnSpc>
              <a:spcBef>
                <a:spcPct val="0"/>
              </a:spcBef>
            </a:pPr>
            <a:r>
              <a:rPr lang="en-US" sz="2673" u="none" strike="noStrike">
                <a:solidFill>
                  <a:srgbClr val="FFFFFF"/>
                </a:solidFill>
                <a:latin typeface="Myriad Pro 2"/>
              </a:rPr>
              <a:t>04.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59764" y="4895780"/>
            <a:ext cx="2944755" cy="412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100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FFFFFF"/>
                </a:solidFill>
                <a:latin typeface="Myriad Pro 2"/>
              </a:rPr>
              <a:t>COLLATERAL</a:t>
            </a:r>
          </a:p>
        </p:txBody>
      </p:sp>
      <p:sp>
        <p:nvSpPr>
          <p:cNvPr id="36" name="Freeform 36"/>
          <p:cNvSpPr/>
          <p:nvPr/>
        </p:nvSpPr>
        <p:spPr>
          <a:xfrm>
            <a:off x="164580" y="211893"/>
            <a:ext cx="3694736" cy="712076"/>
          </a:xfrm>
          <a:custGeom>
            <a:avLst/>
            <a:gdLst/>
            <a:ahLst/>
            <a:cxnLst/>
            <a:rect l="l" t="t" r="r" b="b"/>
            <a:pathLst>
              <a:path w="3694736" h="712076">
                <a:moveTo>
                  <a:pt x="0" y="0"/>
                </a:moveTo>
                <a:lnTo>
                  <a:pt x="3694736" y="0"/>
                </a:lnTo>
                <a:lnTo>
                  <a:pt x="3694736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grpSp>
        <p:nvGrpSpPr>
          <p:cNvPr id="37" name="Group 37"/>
          <p:cNvGrpSpPr/>
          <p:nvPr/>
        </p:nvGrpSpPr>
        <p:grpSpPr>
          <a:xfrm>
            <a:off x="14611983" y="4109239"/>
            <a:ext cx="3332840" cy="3441323"/>
            <a:chOff x="0" y="0"/>
            <a:chExt cx="919432" cy="94935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9432" cy="949359"/>
            </a:xfrm>
            <a:custGeom>
              <a:avLst/>
              <a:gdLst/>
              <a:ahLst/>
              <a:cxnLst/>
              <a:rect l="l" t="t" r="r" b="b"/>
              <a:pathLst>
                <a:path w="919432" h="949359">
                  <a:moveTo>
                    <a:pt x="0" y="0"/>
                  </a:moveTo>
                  <a:lnTo>
                    <a:pt x="919432" y="0"/>
                  </a:lnTo>
                  <a:lnTo>
                    <a:pt x="919432" y="949359"/>
                  </a:lnTo>
                  <a:lnTo>
                    <a:pt x="0" y="949359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919432" cy="98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773363" y="3604199"/>
            <a:ext cx="1010080" cy="1010080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A800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4886372" y="4650088"/>
            <a:ext cx="2784062" cy="49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ct val="1100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FFFFFF"/>
                </a:solidFill>
                <a:latin typeface="Myriad Pro 2"/>
              </a:rPr>
              <a:t>FORECASTED LOAN LOSS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959756" y="3801981"/>
            <a:ext cx="637293" cy="50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2"/>
              </a:lnSpc>
              <a:spcBef>
                <a:spcPct val="0"/>
              </a:spcBef>
            </a:pPr>
            <a:r>
              <a:rPr lang="en-US" sz="2673" u="none" strike="noStrike">
                <a:solidFill>
                  <a:srgbClr val="FFFFFF"/>
                </a:solidFill>
                <a:latin typeface="Myriad Pro 2"/>
              </a:rPr>
              <a:t>05.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090476" y="5829672"/>
            <a:ext cx="3019132" cy="50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3000" dirty="0">
                <a:solidFill>
                  <a:srgbClr val="FFFFFF"/>
                </a:solidFill>
                <a:latin typeface="Myriad Pro 1"/>
              </a:rPr>
              <a:t>5%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45116" y="5833258"/>
            <a:ext cx="3019132" cy="1410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000">
                <a:solidFill>
                  <a:srgbClr val="FFFFFF"/>
                </a:solidFill>
                <a:latin typeface="Myriad Pro 1"/>
              </a:rPr>
              <a:t>36 months (3 years), with a 6-month moratorium and mid-term review.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40930" y="5833258"/>
            <a:ext cx="3019132" cy="95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400">
                <a:solidFill>
                  <a:srgbClr val="FFFFFF"/>
                </a:solidFill>
                <a:latin typeface="Myriad Pro 1"/>
              </a:rPr>
              <a:t>None (no guarantors required).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768837" y="5833258"/>
            <a:ext cx="3019132" cy="95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200">
                <a:solidFill>
                  <a:srgbClr val="FFFFFF"/>
                </a:solidFill>
                <a:latin typeface="Myriad Pro 1"/>
              </a:rPr>
              <a:t>3% forecasted loan loss rate.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826932" y="173144"/>
            <a:ext cx="7136141" cy="64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6" lvl="1" indent="-410208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57B6B2"/>
                </a:solidFill>
                <a:latin typeface="Myriad Pro 1"/>
              </a:rPr>
              <a:t>Time allocated: (4 minutes)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3927162" y="7857547"/>
            <a:ext cx="10477848" cy="1488348"/>
            <a:chOff x="0" y="-39732"/>
            <a:chExt cx="2887582" cy="538130"/>
          </a:xfrm>
        </p:grpSpPr>
        <p:sp>
          <p:nvSpPr>
            <p:cNvPr id="51" name="Freeform 51"/>
            <p:cNvSpPr/>
            <p:nvPr/>
          </p:nvSpPr>
          <p:spPr>
            <a:xfrm>
              <a:off x="0" y="-39732"/>
              <a:ext cx="2887582" cy="538130"/>
            </a:xfrm>
            <a:custGeom>
              <a:avLst/>
              <a:gdLst/>
              <a:ahLst/>
              <a:cxnLst/>
              <a:rect l="l" t="t" r="r" b="b"/>
              <a:pathLst>
                <a:path w="2887582" h="498398">
                  <a:moveTo>
                    <a:pt x="0" y="0"/>
                  </a:moveTo>
                  <a:lnTo>
                    <a:pt x="2887582" y="0"/>
                  </a:lnTo>
                  <a:lnTo>
                    <a:pt x="2887582" y="498398"/>
                  </a:lnTo>
                  <a:lnTo>
                    <a:pt x="0" y="498398"/>
                  </a:lnTo>
                  <a:close/>
                </a:path>
              </a:pathLst>
            </a:custGeom>
            <a:solidFill>
              <a:srgbClr val="57B6B2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887582" cy="536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426355" y="8129817"/>
            <a:ext cx="1010080" cy="1010080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A800"/>
            </a:solidFill>
          </p:spPr>
          <p:txBody>
            <a:bodyPr/>
            <a:lstStyle/>
            <a:p>
              <a:endParaRPr lang="en-H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3612749" y="8327598"/>
            <a:ext cx="637293" cy="50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2"/>
              </a:lnSpc>
              <a:spcBef>
                <a:spcPct val="0"/>
              </a:spcBef>
            </a:pPr>
            <a:r>
              <a:rPr lang="en-US" sz="2673" u="none" strike="noStrike">
                <a:solidFill>
                  <a:srgbClr val="FFFFFF"/>
                </a:solidFill>
                <a:latin typeface="Myriad Pro 2"/>
              </a:rPr>
              <a:t>06.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436435" y="8129817"/>
            <a:ext cx="6381116" cy="454604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ct val="11000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Myriad Pro 2"/>
              </a:rPr>
              <a:t>OTHER LOAN CONDITIONS:</a:t>
            </a:r>
          </a:p>
          <a:p>
            <a:pPr>
              <a:lnSpc>
                <a:spcPct val="110000"/>
              </a:lnSpc>
            </a:pPr>
            <a:r>
              <a:rPr sz="1600" dirty="0">
                <a:solidFill>
                  <a:srgbClr val="FFFFFF"/>
                </a:solidFill>
                <a:latin typeface="Myriad Pro 1"/>
              </a:rPr>
              <a:t>Sufficient loan reserve, based on portfolio aging and trending.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777240"/>
            <a:ext cx="15544800" cy="638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 dirty="0">
                <a:solidFill>
                  <a:srgbClr val="0B3B3E"/>
                </a:solidFill>
                <a:latin typeface="Myriad Pro 2"/>
              </a:rPr>
              <a:t>Credit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16002000" cy="311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 dirty="0">
                <a:solidFill>
                  <a:srgbClr val="555555"/>
                </a:solidFill>
                <a:latin typeface="Myriad Pro 1"/>
              </a:rPr>
              <a:t>Each product is sized to a different income pattern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207746"/>
          <a:ext cx="16459200" cy="4434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yriad Pro 1"/>
                        </a:rPr>
                        <a:t>Product</a:t>
                      </a:r>
                    </a:p>
                  </a:txBody>
                  <a:tcPr marT="36576" marB="36576" anchor="ctr">
                    <a:solidFill>
                      <a:srgbClr val="0B3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yriad Pro 1"/>
                        </a:rPr>
                        <a:t>Who it serves</a:t>
                      </a:r>
                    </a:p>
                  </a:txBody>
                  <a:tcPr marT="36576" marB="36576" anchor="ctr">
                    <a:solidFill>
                      <a:srgbClr val="0B3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yriad Pro 1"/>
                        </a:rPr>
                        <a:t>Range (USD)</a:t>
                      </a:r>
                    </a:p>
                  </a:txBody>
                  <a:tcPr marT="36576" marB="36576" anchor="ctr">
                    <a:solidFill>
                      <a:srgbClr val="0B3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yriad Pro 1"/>
                        </a:rPr>
                        <a:t>Range (₦)</a:t>
                      </a:r>
                    </a:p>
                  </a:txBody>
                  <a:tcPr marT="36576" marB="36576" anchor="ctr">
                    <a:solidFill>
                      <a:srgbClr val="0B3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yriad Pro 1"/>
                        </a:rPr>
                        <a:t>Term &amp; collection</a:t>
                      </a:r>
                    </a:p>
                  </a:txBody>
                  <a:tcPr marT="36576" marB="36576" anchor="ctr">
                    <a:solidFill>
                      <a:srgbClr val="0B3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MiniMonie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Daily income traders, contribution-based businesses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$22–$75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₦30,000–100,000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2 months, daily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PeakLite / MicroGroup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Group-based microcredit, shared repayment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$112–$149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₦150,000–200,000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5 months, daily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Sabi Trader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Established retailers beyond group limits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$149–$373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₦200,000–499,999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5–6 months, monthly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SME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Eligible small &amp; medium businesses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$149–$373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₦200,000–499,999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5–6 months, monthly</a:t>
                      </a:r>
                    </a:p>
                  </a:txBody>
                  <a:tcPr marT="36576" marB="36576" anchor="ctr">
                    <a:solidFill>
                      <a:srgbClr val="F5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BetaBiz / Working Capital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Business expenses, stock, cash flow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$373+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yriad Pro 1"/>
                        </a:rPr>
                        <a:t>₦500,000+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  <a:latin typeface="Myriad Pro 1"/>
                        </a:rPr>
                        <a:t>5–6 months, monthly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2" y="7589520"/>
            <a:ext cx="3749040" cy="155448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7993481"/>
            <a:ext cx="3474720" cy="56073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600" b="1" dirty="0">
                <a:solidFill>
                  <a:srgbClr val="FFFFFF"/>
                </a:solidFill>
                <a:latin typeface="Myriad Pro 1"/>
              </a:rPr>
              <a:t>3.5</a:t>
            </a:r>
            <a:r>
              <a:rPr sz="3600" b="1" i="0" dirty="0">
                <a:solidFill>
                  <a:srgbClr val="FFFFFF"/>
                </a:solidFill>
                <a:latin typeface="Myriad Pro 1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8491118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FE3DF"/>
                </a:solidFill>
                <a:latin typeface="Myriad Pro 1"/>
              </a:rPr>
              <a:t>Interest rate, all products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5152" y="7589520"/>
            <a:ext cx="3749040" cy="155448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2312" y="7699248"/>
            <a:ext cx="3474720" cy="8549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Myriad Pro 1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8491118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FE3DF"/>
                </a:solidFill>
                <a:latin typeface="Myriad Pro 1"/>
              </a:rPr>
              <a:t>Equity contribution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7072" y="7589520"/>
            <a:ext cx="3749040" cy="155448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4232" y="7699248"/>
            <a:ext cx="3474720" cy="8549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Myriad Pro 1"/>
              </a:rPr>
              <a:t>5.5%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8491118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FE3DF"/>
                </a:solidFill>
                <a:latin typeface="Myriad Pro 1"/>
              </a:rPr>
              <a:t>Management fee &amp; insurance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08992" y="7589520"/>
            <a:ext cx="3749040" cy="155448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646152" y="7699248"/>
            <a:ext cx="3474720" cy="8549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Myriad Pro 1"/>
              </a:rPr>
              <a:t>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46152" y="8491118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FE3DF"/>
                </a:solidFill>
                <a:latin typeface="Myriad Pro 1"/>
              </a:rPr>
              <a:t>Savings rate, p.a.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9372600"/>
            <a:ext cx="1645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555555"/>
                </a:solidFill>
                <a:latin typeface="Myriad Pro 1"/>
              </a:rPr>
              <a:t>Plus: financial literacy, digital payments, agency banking, and micro-health insurance &amp; renewable-energy financing through partnerships.</a:t>
            </a:r>
          </a:p>
        </p:txBody>
      </p:sp>
    </p:spTree>
    <p:extLst>
      <p:ext uri="{BB962C8B-B14F-4D97-AF65-F5344CB8AC3E}">
        <p14:creationId xmlns:p14="http://schemas.microsoft.com/office/powerpoint/2010/main" val="406049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777240"/>
            <a:ext cx="1554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Myriad Pro 2"/>
              </a:rPr>
              <a:t>Growth, FY2025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1600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BFE3DF"/>
                </a:solidFill>
                <a:latin typeface="Myriad Pro 1"/>
              </a:rPr>
              <a:t>Projected beneficiary mix and PEAK's audited growth, 2024 →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48840"/>
            <a:ext cx="1463040" cy="38100"/>
          </a:xfrm>
          <a:prstGeom prst="rect">
            <a:avLst/>
          </a:prstGeom>
          <a:solidFill>
            <a:srgbClr val="F0A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651760"/>
          <a:ext cx="694944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778240" y="2651760"/>
          <a:ext cx="82296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78240" y="8778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 dirty="0">
                <a:solidFill>
                  <a:srgbClr val="BFE3DF"/>
                </a:solidFill>
                <a:latin typeface="Myriad Pro 1"/>
              </a:rPr>
              <a:t>Audited financial performance (</a:t>
            </a:r>
            <a:r>
              <a:rPr sz="1600" b="0" i="1" dirty="0" err="1">
                <a:solidFill>
                  <a:srgbClr val="BFE3DF"/>
                </a:solidFill>
                <a:latin typeface="Myriad Pro 1"/>
              </a:rPr>
              <a:t>Ismaheel</a:t>
            </a:r>
            <a:r>
              <a:rPr sz="1600" b="0" i="1" dirty="0">
                <a:solidFill>
                  <a:srgbClr val="BFE3DF"/>
                </a:solidFill>
                <a:latin typeface="Myriad Pro 1"/>
              </a:rPr>
              <a:t> and Co., FYE 31 Dec 2025): +26% assets, +54% loan book, +72% accumulated funds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554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0A61E"/>
                </a:solidFill>
                <a:latin typeface="Myriad Pro 2"/>
              </a:rPr>
              <a:t>08D — IS THE BOOK ACTUALLY HEALTHY?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77240"/>
            <a:ext cx="1554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Myriad Pro 2"/>
              </a:rPr>
              <a:t>Credit Quality &amp; Portfolio 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00200"/>
            <a:ext cx="1463040" cy="38100"/>
          </a:xfrm>
          <a:prstGeom prst="rect">
            <a:avLst/>
          </a:prstGeom>
          <a:solidFill>
            <a:srgbClr val="F0A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2651760"/>
            <a:ext cx="3657600" cy="182880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761488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Myriad Pro 1"/>
              </a:rPr>
              <a:t>$187,889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712464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FE3DF"/>
                </a:solidFill>
                <a:latin typeface="Myriad Pro 1"/>
              </a:rPr>
              <a:t>Total outstanding loan portfolio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651760"/>
            <a:ext cx="3657600" cy="1828800"/>
          </a:xfrm>
          <a:prstGeom prst="rect">
            <a:avLst/>
          </a:prstGeom>
          <a:solidFill>
            <a:srgbClr val="0B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761488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Myriad Pro 1"/>
              </a:rPr>
              <a:t>0.98%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12464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FE3DF"/>
                </a:solidFill>
                <a:latin typeface="Myriad Pro 1"/>
              </a:rPr>
              <a:t>of portfolio overdue ($1,850)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709160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0A61E"/>
                </a:solidFill>
                <a:latin typeface="Myriad Pro 1"/>
              </a:rPr>
              <a:t>No balance has aged beyond 90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349240"/>
            <a:ext cx="75895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Myriad Pro 1"/>
              </a:rPr>
              <a:t>Provisioning is graduated: 1% at current, 5% at 1–30 days, 20% at 31–60 days, 50% at 61–90 days, 100% beyond 90 days — built into the lending model from the outset, not introduced in response to losses.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8778240" y="2651760"/>
          <a:ext cx="8229600" cy="6309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778240" y="91440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BFE3DF"/>
                </a:solidFill>
                <a:latin typeface="Myriad Pro 1"/>
              </a:rPr>
              <a:t>Aging of the $1,850 currently overdue — none beyond 90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86232" y="128016"/>
            <a:ext cx="46908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BFE3DF"/>
                </a:solidFill>
                <a:latin typeface="Myriad Pro 1"/>
              </a:rPr>
              <a:t>• Time allocated: (1 minute)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580" y="211893"/>
            <a:ext cx="3694736" cy="712076"/>
          </a:xfrm>
          <a:custGeom>
            <a:avLst/>
            <a:gdLst/>
            <a:ahLst/>
            <a:cxnLst/>
            <a:rect l="l" t="t" r="r" b="b"/>
            <a:pathLst>
              <a:path w="3694736" h="712076">
                <a:moveTo>
                  <a:pt x="0" y="0"/>
                </a:moveTo>
                <a:lnTo>
                  <a:pt x="3694736" y="0"/>
                </a:lnTo>
                <a:lnTo>
                  <a:pt x="3694736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sp>
        <p:nvSpPr>
          <p:cNvPr id="8" name="TextBox 8"/>
          <p:cNvSpPr txBox="1"/>
          <p:nvPr/>
        </p:nvSpPr>
        <p:spPr>
          <a:xfrm>
            <a:off x="10573552" y="165052"/>
            <a:ext cx="7400203" cy="64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6" lvl="1" indent="-410208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57B6B2"/>
                </a:solidFill>
                <a:latin typeface="Myriad Pro 1"/>
              </a:rPr>
              <a:t>Time allocated: (4 minutes)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777240"/>
            <a:ext cx="1554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B3B3E"/>
                </a:solidFill>
                <a:latin typeface="Myriad Pro 2"/>
              </a:rPr>
              <a:t>Projected Social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00200"/>
            <a:ext cx="1600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555555"/>
                </a:solidFill>
                <a:latin typeface="Myriad Pro 1"/>
              </a:rPr>
              <a:t>Who this facility reaches, and what changes for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1463040" cy="38100"/>
          </a:xfrm>
          <a:prstGeom prst="rect">
            <a:avLst/>
          </a:prstGeom>
          <a:solidFill>
            <a:srgbClr val="F0A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97480"/>
            <a:ext cx="6583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200" b="1" i="0">
                <a:solidFill>
                  <a:srgbClr val="0B3B3E"/>
                </a:solidFill>
                <a:latin typeface="Myriad Pro 2"/>
              </a:rPr>
              <a:t>2,000+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11480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55555"/>
                </a:solidFill>
                <a:latin typeface="Myriad Pro 1"/>
              </a:rPr>
              <a:t>customers and businesses reached across PEAK's operating communities.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816352"/>
            <a:ext cx="320040" cy="320040"/>
          </a:xfrm>
          <a:prstGeom prst="rect">
            <a:avLst/>
          </a:prstGeom>
          <a:solidFill>
            <a:srgbClr val="F0A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743200"/>
            <a:ext cx="9418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B3B3E"/>
                </a:solidFill>
                <a:latin typeface="Myriad Pro 2"/>
              </a:rPr>
              <a:t>70%+  Women &amp; youth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00400"/>
            <a:ext cx="9418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22222"/>
                </a:solidFill>
                <a:latin typeface="Myriad Pro 1"/>
              </a:rPr>
              <a:t>Working capital for traders and SMEs; structured liquidity replacing costly informal borrowing.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4050792"/>
            <a:ext cx="320040" cy="320040"/>
          </a:xfrm>
          <a:prstGeom prst="rect">
            <a:avLst/>
          </a:prstGeom>
          <a:solidFill>
            <a:srgbClr val="4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977640"/>
            <a:ext cx="9418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B3B3E"/>
                </a:solidFill>
                <a:latin typeface="Myriad Pro 2"/>
              </a:rPr>
              <a:t>20%  SMEs / MSMEs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434840"/>
            <a:ext cx="9418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22222"/>
                </a:solidFill>
                <a:latin typeface="Myriad Pro 1"/>
              </a:rPr>
              <a:t>Tools, inputs and working capital sized to established small businesses.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5285232"/>
            <a:ext cx="320040" cy="32004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5212080"/>
            <a:ext cx="9418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B3B3E"/>
                </a:solidFill>
                <a:latin typeface="Myriad Pro 2"/>
              </a:rPr>
              <a:t>10%  Artisans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669280"/>
            <a:ext cx="9418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22222"/>
                </a:solidFill>
                <a:latin typeface="Myriad Pro 1"/>
              </a:rPr>
              <a:t>Tools and inputs suited to artisan production cycles.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537960"/>
            <a:ext cx="1645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55555"/>
                </a:solidFill>
                <a:latin typeface="Myriad Pro 1"/>
              </a:rPr>
              <a:t>Savings mobilised at 17% p.a. alongside every loan — building resilience, not just credit access.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7269480"/>
            <a:ext cx="8183879" cy="1965960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7498079"/>
            <a:ext cx="76352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0A61E"/>
                </a:solidFill>
                <a:latin typeface="Myriad Pro 2"/>
              </a:rPr>
              <a:t>HOUSEHOLD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8001000"/>
            <a:ext cx="76352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B3E"/>
                </a:solidFill>
                <a:latin typeface="Myriad Pro 1"/>
              </a:rPr>
              <a:t>More stable income.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7269480"/>
            <a:ext cx="8183879" cy="1965960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7498079"/>
            <a:ext cx="76352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0A61E"/>
                </a:solidFill>
                <a:latin typeface="Myriad Pro 2"/>
              </a:rPr>
              <a:t>ENTERPRISE LEVEL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8001000"/>
            <a:ext cx="76352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B3B3E"/>
                </a:solidFill>
                <a:latin typeface="Myriad Pro 1"/>
              </a:rPr>
              <a:t>Continuity, growth and preserved livelihoods.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580" y="211893"/>
            <a:ext cx="3694736" cy="712076"/>
          </a:xfrm>
          <a:custGeom>
            <a:avLst/>
            <a:gdLst/>
            <a:ahLst/>
            <a:cxnLst/>
            <a:rect l="l" t="t" r="r" b="b"/>
            <a:pathLst>
              <a:path w="3694736" h="712076">
                <a:moveTo>
                  <a:pt x="0" y="0"/>
                </a:moveTo>
                <a:lnTo>
                  <a:pt x="3694736" y="0"/>
                </a:lnTo>
                <a:lnTo>
                  <a:pt x="3694736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  <p:sp>
        <p:nvSpPr>
          <p:cNvPr id="51" name="TextBox 51"/>
          <p:cNvSpPr txBox="1"/>
          <p:nvPr/>
        </p:nvSpPr>
        <p:spPr>
          <a:xfrm>
            <a:off x="10132586" y="215873"/>
            <a:ext cx="7125459" cy="64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6" lvl="1" indent="-410208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57B6B2"/>
                </a:solidFill>
                <a:latin typeface="Myriad Pro 1"/>
              </a:rPr>
              <a:t>Time allocated: (4 minutes)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777240"/>
            <a:ext cx="1554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B3B3E"/>
                </a:solidFill>
                <a:latin typeface="Myriad Pro 2"/>
              </a:rPr>
              <a:t>Risk Assessment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1600200"/>
            <a:ext cx="1600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555555"/>
                </a:solidFill>
                <a:latin typeface="Myriad Pro 1"/>
              </a:rPr>
              <a:t>Four categories, with mitigations already built into how PEAK operates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2148840"/>
            <a:ext cx="1463040" cy="38100"/>
          </a:xfrm>
          <a:prstGeom prst="rect">
            <a:avLst/>
          </a:prstGeom>
          <a:solidFill>
            <a:srgbClr val="F0A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713232" y="2651760"/>
          <a:ext cx="16861536" cy="6812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/>
                <a:gridCol w="6583680"/>
                <a:gridCol w="6620256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yriad Pro 1"/>
                        </a:rPr>
                        <a:t>Risk Area</a:t>
                      </a:r>
                    </a:p>
                  </a:txBody>
                  <a:tcPr marL="137160" marR="137160" marT="73152" marB="73152" anchor="ctr">
                    <a:solidFill>
                      <a:srgbClr val="0B3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yriad Pro 1"/>
                        </a:rPr>
                        <a:t>Risk / Description</a:t>
                      </a:r>
                    </a:p>
                  </a:txBody>
                  <a:tcPr marL="137160" marR="137160" marT="73152" marB="73152" anchor="ctr">
                    <a:solidFill>
                      <a:srgbClr val="0B3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yriad Pro 1"/>
                        </a:rPr>
                        <a:t>Mitigation</a:t>
                      </a:r>
                    </a:p>
                  </a:txBody>
                  <a:tcPr marL="137160" marR="137160" marT="73152" marB="73152" anchor="ctr">
                    <a:solidFill>
                      <a:srgbClr val="0B3B3E"/>
                    </a:solidFill>
                  </a:tcPr>
                </a:tc>
              </a:tr>
              <a:tr h="155448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CREDIT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Repayment delays or default.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Appraisal &amp; guarantees.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LIQUIDITY</a:t>
                      </a:r>
                    </a:p>
                  </a:txBody>
                  <a:tcPr marL="137160" marR="137160" marT="73152" marB="73152" anchor="ctr">
                    <a:solidFill>
                      <a:srgbClr val="F5F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Insufficient funds or delayed partner funding.</a:t>
                      </a:r>
                    </a:p>
                  </a:txBody>
                  <a:tcPr marL="137160" marR="137160" marT="73152" marB="73152" anchor="ctr">
                    <a:solidFill>
                      <a:srgbClr val="F5F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Cash-flow monitoring, diversified funding, liquidity reserves.</a:t>
                      </a:r>
                    </a:p>
                  </a:txBody>
                  <a:tcPr marL="137160" marR="137160" marT="73152" marB="73152" anchor="ctr">
                    <a:solidFill>
                      <a:srgbClr val="F5FAF9"/>
                    </a:solidFill>
                  </a:tcPr>
                </a:tc>
              </a:tr>
              <a:tr h="155448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MARKET &amp; CURRENCY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Inflation and naira volatility.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Market monitoring, flexible products, digital-channel improvement.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OPERATIONAL &amp; COMPLIANCE</a:t>
                      </a:r>
                    </a:p>
                  </a:txBody>
                  <a:tcPr marL="137160" marR="137160" marT="73152" marB="73152" anchor="ctr">
                    <a:solidFill>
                      <a:srgbClr val="F5F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Internal controls or fraud.</a:t>
                      </a:r>
                    </a:p>
                  </a:txBody>
                  <a:tcPr marL="137160" marR="137160" marT="73152" marB="73152" anchor="ctr">
                    <a:solidFill>
                      <a:srgbClr val="F5F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Myriad Pro 1"/>
                        </a:rPr>
                        <a:t>Segregation of duties, internal controls, periodic audits.</a:t>
                      </a:r>
                    </a:p>
                  </a:txBody>
                  <a:tcPr marL="137160" marR="137160" marT="73152" marB="73152" anchor="ctr">
                    <a:solidFill>
                      <a:srgbClr val="F5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B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50110" y="4291012"/>
            <a:ext cx="8187779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99"/>
              </a:lnSpc>
              <a:spcBef>
                <a:spcPct val="0"/>
              </a:spcBef>
            </a:pPr>
            <a:r>
              <a:rPr lang="en-US" sz="8999">
                <a:solidFill>
                  <a:srgbClr val="FFFFFF"/>
                </a:solidFill>
                <a:latin typeface="Myriad Pro 2"/>
              </a:rPr>
              <a:t>Questions &amp; Answers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237890" y="130416"/>
            <a:ext cx="4735865" cy="72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6" lvl="1" indent="-410208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Myriad Pro 1"/>
              </a:rPr>
              <a:t>Time allocated: (10 minutes)</a:t>
            </a:r>
          </a:p>
        </p:txBody>
      </p:sp>
      <p:sp>
        <p:nvSpPr>
          <p:cNvPr id="4" name="Freeform 4"/>
          <p:cNvSpPr/>
          <p:nvPr/>
        </p:nvSpPr>
        <p:spPr>
          <a:xfrm>
            <a:off x="164580" y="211893"/>
            <a:ext cx="3694736" cy="712076"/>
          </a:xfrm>
          <a:custGeom>
            <a:avLst/>
            <a:gdLst/>
            <a:ahLst/>
            <a:cxnLst/>
            <a:rect l="l" t="t" r="r" b="b"/>
            <a:pathLst>
              <a:path w="3694736" h="712076">
                <a:moveTo>
                  <a:pt x="0" y="0"/>
                </a:moveTo>
                <a:lnTo>
                  <a:pt x="3694736" y="0"/>
                </a:lnTo>
                <a:lnTo>
                  <a:pt x="3694736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B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10023" y="3342442"/>
            <a:ext cx="11067954" cy="3602116"/>
          </a:xfrm>
          <a:custGeom>
            <a:avLst/>
            <a:gdLst/>
            <a:ahLst/>
            <a:cxnLst/>
            <a:rect l="l" t="t" r="r" b="b"/>
            <a:pathLst>
              <a:path w="11067954" h="3602116">
                <a:moveTo>
                  <a:pt x="0" y="0"/>
                </a:moveTo>
                <a:lnTo>
                  <a:pt x="11067954" y="0"/>
                </a:lnTo>
                <a:lnTo>
                  <a:pt x="11067954" y="3602116"/>
                </a:lnTo>
                <a:lnTo>
                  <a:pt x="0" y="3602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H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1D21BC7B6FEE4CB3A461354039251D" ma:contentTypeVersion="21" ma:contentTypeDescription="Create a new document." ma:contentTypeScope="" ma:versionID="6fff8ec94fb4bdba25f3844684d6c7ff">
  <xsd:schema xmlns:xsd="http://www.w3.org/2001/XMLSchema" xmlns:xs="http://www.w3.org/2001/XMLSchema" xmlns:p="http://schemas.microsoft.com/office/2006/metadata/properties" xmlns:ns2="f92aca6c-c401-49bd-8a19-530b4b40f889" xmlns:ns3="930730da-f65c-4ee2-afba-39e1b0987571" targetNamespace="http://schemas.microsoft.com/office/2006/metadata/properties" ma:root="true" ma:fieldsID="211fe7bd5e1017867a70b3dc6f5a5da7" ns2:_="" ns3:_="">
    <xsd:import namespace="f92aca6c-c401-49bd-8a19-530b4b40f889"/>
    <xsd:import namespace="930730da-f65c-4ee2-afba-39e1b0987571"/>
    <xsd:element name="properties">
      <xsd:complexType>
        <xsd:sequence>
          <xsd:element name="documentManagement">
            <xsd:complexType>
              <xsd:all>
                <xsd:element ref="ns2:o56dfeb0ef06478b9e4b4ee169a78bef" minOccurs="0"/>
                <xsd:element ref="ns3:TaxCatchAll" minOccurs="0"/>
                <xsd:element ref="ns2:f93b207740a247dd844a67fc26f36bf4" minOccurs="0"/>
                <xsd:element ref="ns2:mbf214aba0e14518898f7fd836e3102e" minOccurs="0"/>
                <xsd:element ref="ns2:mac18dae4a9b43439ca2cd8318e98bc6" minOccurs="0"/>
                <xsd:element ref="ns2:ba4d4309235c4aee9cb06c683e8b3d17" minOccurs="0"/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2aca6c-c401-49bd-8a19-530b4b40f889" elementFormDefault="qualified">
    <xsd:import namespace="http://schemas.microsoft.com/office/2006/documentManagement/types"/>
    <xsd:import namespace="http://schemas.microsoft.com/office/infopath/2007/PartnerControls"/>
    <xsd:element name="o56dfeb0ef06478b9e4b4ee169a78bef" ma:index="9" nillable="true" ma:taxonomy="true" ma:internalName="o56dfeb0ef06478b9e4b4ee169a78bef" ma:taxonomyFieldName="Document_x0020_Type" ma:displayName="Document Type" ma:default="" ma:fieldId="{856dfeb0-ef06-478b-9e4b-4ee169a78bef}" ma:sspId="27fae8ff-0567-4fad-8cd6-49451ccca6d6" ma:termSetId="32f9d5fa-740f-47d1-93d7-01cc0651dee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93b207740a247dd844a67fc26f36bf4" ma:index="12" nillable="true" ma:taxonomy="true" ma:internalName="f93b207740a247dd844a67fc26f36bf4" ma:taxonomyFieldName="Language" ma:displayName="Language" ma:default="" ma:fieldId="{f93b2077-40a2-47dd-844a-67fc26f36bf4}" ma:sspId="27fae8ff-0567-4fad-8cd6-49451ccca6d6" ma:termSetId="78d4cd5c-71cd-4e87-940c-94c32e3a3ca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bf214aba0e14518898f7fd836e3102e" ma:index="14" nillable="true" ma:taxonomy="true" ma:internalName="mbf214aba0e14518898f7fd836e3102e" ma:taxonomyFieldName="Country" ma:displayName="Country" ma:default="" ma:fieldId="{6bf214ab-a0e1-4518-898f-7fd836e3102e}" ma:sspId="27fae8ff-0567-4fad-8cd6-49451ccca6d6" ma:termSetId="53bdeef1-669b-437e-9568-df572130612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18dae4a9b43439ca2cd8318e98bc6" ma:index="16" nillable="true" ma:taxonomy="true" ma:internalName="mac18dae4a9b43439ca2cd8318e98bc6" ma:taxonomyFieldName="Region" ma:displayName="Region" ma:default="" ma:fieldId="{6ac18dae-4a9b-4343-9ca2-cd8318e98bc6}" ma:sspId="27fae8ff-0567-4fad-8cd6-49451ccca6d6" ma:termSetId="50bb433a-2335-4778-87c1-a2a9ddef598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a4d4309235c4aee9cb06c683e8b3d17" ma:index="18" nillable="true" ma:taxonomy="true" ma:internalName="ba4d4309235c4aee9cb06c683e8b3d17" ma:taxonomyFieldName="LCI_x0020_Name" ma:displayName="LCI Name" ma:default="" ma:fieldId="{ba4d4309-235c-4aee-9cb0-6c683e8b3d17}" ma:sspId="27fae8ff-0567-4fad-8cd6-49451ccca6d6" ma:termSetId="b1697dbb-0409-477d-be5e-43c705bf537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27fae8ff-0567-4fad-8cd6-49451ccca6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2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730da-f65c-4ee2-afba-39e1b098757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dc3c82f-ba5b-45d8-986c-92c31a5828f4}" ma:internalName="TaxCatchAll" ma:showField="CatchAllData" ma:web="930730da-f65c-4ee2-afba-39e1b09875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730da-f65c-4ee2-afba-39e1b0987571" xsi:nil="true"/>
    <mac18dae4a9b43439ca2cd8318e98bc6 xmlns="f92aca6c-c401-49bd-8a19-530b4b40f889">
      <Terms xmlns="http://schemas.microsoft.com/office/infopath/2007/PartnerControls"/>
    </mac18dae4a9b43439ca2cd8318e98bc6>
    <o56dfeb0ef06478b9e4b4ee169a78bef xmlns="f92aca6c-c401-49bd-8a19-530b4b40f889">
      <Terms xmlns="http://schemas.microsoft.com/office/infopath/2007/PartnerControls"/>
    </o56dfeb0ef06478b9e4b4ee169a78bef>
    <mbf214aba0e14518898f7fd836e3102e xmlns="f92aca6c-c401-49bd-8a19-530b4b40f889">
      <Terms xmlns="http://schemas.microsoft.com/office/infopath/2007/PartnerControls"/>
    </mbf214aba0e14518898f7fd836e3102e>
    <lcf76f155ced4ddcb4097134ff3c332f xmlns="f92aca6c-c401-49bd-8a19-530b4b40f889">
      <Terms xmlns="http://schemas.microsoft.com/office/infopath/2007/PartnerControls"/>
    </lcf76f155ced4ddcb4097134ff3c332f>
    <f93b207740a247dd844a67fc26f36bf4 xmlns="f92aca6c-c401-49bd-8a19-530b4b40f889">
      <Terms xmlns="http://schemas.microsoft.com/office/infopath/2007/PartnerControls"/>
    </f93b207740a247dd844a67fc26f36bf4>
    <ba4d4309235c4aee9cb06c683e8b3d17 xmlns="f92aca6c-c401-49bd-8a19-530b4b40f889">
      <Terms xmlns="http://schemas.microsoft.com/office/infopath/2007/PartnerControls"/>
    </ba4d4309235c4aee9cb06c683e8b3d17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C38255-25B3-4F42-AF85-51EE705850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2aca6c-c401-49bd-8a19-530b4b40f889"/>
    <ds:schemaRef ds:uri="930730da-f65c-4ee2-afba-39e1b09875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078D05-585C-4E63-B540-D6B0F67D9017}">
  <ds:schemaRefs>
    <ds:schemaRef ds:uri="http://schemas.microsoft.com/office/2006/documentManagement/types"/>
    <ds:schemaRef ds:uri="591132ca-9134-44e8-bd0b-33927184b0cc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infopath/2007/PartnerControls"/>
    <ds:schemaRef ds:uri="930730da-f65c-4ee2-afba-39e1b0987571"/>
    <ds:schemaRef ds:uri="f92aca6c-c401-49bd-8a19-530b4b40f889"/>
  </ds:schemaRefs>
</ds:datastoreItem>
</file>

<file path=customXml/itemProps3.xml><?xml version="1.0" encoding="utf-8"?>
<ds:datastoreItem xmlns:ds="http://schemas.openxmlformats.org/officeDocument/2006/customXml" ds:itemID="{6623CAEA-C173-4BAA-AC96-D9986D44E5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815</Words>
  <Application>Microsoft Office PowerPoint</Application>
  <PresentationFormat>Custom</PresentationFormat>
  <Paragraphs>92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Loan Application Presentation</dc:title>
  <cp:lastModifiedBy>Jeremiah Akoyere</cp:lastModifiedBy>
  <cp:revision>141</cp:revision>
  <dcterms:created xsi:type="dcterms:W3CDTF">2006-08-16T00:00:00Z</dcterms:created>
  <dcterms:modified xsi:type="dcterms:W3CDTF">2026-10-20T08:48:38Z</dcterms:modified>
  <dc:identifier>DAGEw3f9PzE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0x010100421D21BC7B6FEE4CB3A461354039251D</vt:lpwstr>
  </property>
  <property fmtid="{D5CDD505-2E9C-101B-9397-08002B2CF9AE}" pid="3" name="Document Type">
    <vt:lpwstr/>
  </property>
  <property fmtid="{D5CDD505-2E9C-101B-9397-08002B2CF9AE}" pid="4" name="Region">
    <vt:lpwstr/>
  </property>
  <property fmtid="{D5CDD505-2E9C-101B-9397-08002B2CF9AE}" pid="5" name="MediaServiceImageTags">
    <vt:lpwstr/>
  </property>
  <property fmtid="{D5CDD505-2E9C-101B-9397-08002B2CF9AE}" pid="6" name="Language">
    <vt:lpwstr/>
  </property>
  <property fmtid="{D5CDD505-2E9C-101B-9397-08002B2CF9AE}" pid="7" name="LCI Name">
    <vt:lpwstr/>
  </property>
  <property fmtid="{D5CDD505-2E9C-101B-9397-08002B2CF9AE}" pid="8" name="Country">
    <vt:lpwstr/>
  </property>
  <property fmtid="{D5CDD505-2E9C-101B-9397-08002B2CF9AE}" pid="9" name="Document_x0020_Type">
    <vt:lpwstr/>
  </property>
  <property fmtid="{D5CDD505-2E9C-101B-9397-08002B2CF9AE}" pid="10" name="LCI_x0020_Name">
    <vt:lpwstr/>
  </property>
</Properties>
</file>