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media/image1.svg" ContentType="image/svg+xml"/>
  <Override PartName="/ppt/media/image2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7" r:id="rId25"/>
    <p:sldId id="268" r:id="rId26"/>
    <p:sldId id="263" r:id="rId12"/>
    <p:sldId id="269" r:id="rId27"/>
    <p:sldId id="270" r:id="rId28"/>
    <p:sldId id="271" r:id="rId29"/>
    <p:sldId id="272" r:id="rId30"/>
    <p:sldId id="264" r:id="rId13"/>
    <p:sldId id="273" r:id="rId31"/>
    <p:sldId id="265" r:id="rId14"/>
    <p:sldId id="266" r:id="rId15"/>
  </p:sldIdLst>
  <p:sldSz cx="18288000" cy="10287000"/>
  <p:notesSz cx="6858000" cy="9144000"/>
  <p:embeddedFontLst>
    <p:embeddedFont>
      <p:font typeface="Myriad Pro 1" panose="020B0406030403020204"/>
      <p:regular r:id="rId17"/>
    </p:embeddedFont>
    <p:embeddedFont>
      <p:font typeface="Myriad Pro 2" panose="020B0706030403020204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86" autoAdjust="0"/>
  </p:normalViewPr>
  <p:slideViewPr>
    <p:cSldViewPr>
      <p:cViewPr varScale="1">
        <p:scale>
          <a:sx n="73" d="100"/>
          <a:sy n="73" d="100"/>
        </p:scale>
        <p:origin x="696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ll Palma" userId="fec7103d-6d76-47ee-839e-2818299dad43" providerId="ADAL" clId="{798D1619-E04E-5A8B-A053-229F1330938C}"/>
    <pc:docChg chg="modSld">
      <pc:chgData name="Francell Palma" userId="fec7103d-6d76-47ee-839e-2818299dad43" providerId="ADAL" clId="{798D1619-E04E-5A8B-A053-229F1330938C}" dt="2026-09-08T07:27:06.111" v="46" actId="20577"/>
      <pc:docMkLst>
        <pc:docMk/>
      </pc:docMkLst>
      <pc:sldChg chg="modNotesTx">
        <pc:chgData name="Francell Palma" userId="fec7103d-6d76-47ee-839e-2818299dad43" providerId="ADAL" clId="{798D1619-E04E-5A8B-A053-229F1330938C}" dt="2026-09-08T07:27:06.111" v="46" actId="20577"/>
        <pc:sldMkLst>
          <pc:docMk/>
          <pc:sldMk cId="0" sldId="265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Beneficiary mix</c:v>
                </c:pt>
              </c:strCache>
            </c:strRef>
          </c:tx>
          <c:dPt>
            <c:idx val="0"/>
            <c:spPr>
              <a:solidFill>
                <a:srgbClr val="F0A61E"/>
              </a:solidFill>
            </c:spPr>
          </c:dPt>
          <c:dPt>
            <c:idx val="1"/>
            <c:spPr>
              <a:solidFill>
                <a:srgbClr val="BFE3DF"/>
              </a:solidFill>
            </c:spPr>
          </c:dPt>
          <c:dPt>
            <c:idx val="2"/>
            <c:spPr>
              <a:solidFill>
                <a:srgbClr val="8A8A85"/>
              </a:solidFill>
            </c:spPr>
          </c:dPt>
          <c:cat>
            <c:strRef>
              <c:f>Sheet1!$A$2:$A$4</c:f>
              <c:strCache>
                <c:ptCount val="3"/>
                <c:pt idx="0">
                  <c:v>Women &amp; youth</c:v>
                </c:pt>
                <c:pt idx="1">
                  <c:v>SMEs / MSMEs</c:v>
                </c:pt>
                <c:pt idx="2">
                  <c:v>Artisans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20</c:v>
                </c:pt>
                <c:pt idx="2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22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800">
              <a:solidFill>
                <a:srgbClr val="FFFFFF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 (USD)</c:v>
                </c:pt>
              </c:strCache>
            </c:strRef>
          </c:tx>
          <c:spPr>
            <a:solidFill>
              <a:srgbClr val="8A8A85"/>
            </a:solidFill>
          </c:spPr>
          <c:cat>
            <c:strRef>
              <c:f>Sheet1!$A$2:$A$4</c:f>
              <c:strCache>
                <c:ptCount val="3"/>
                <c:pt idx="0">
                  <c:v>Total assets</c:v>
                </c:pt>
                <c:pt idx="1">
                  <c:v>Loans &amp; advances</c:v>
                </c:pt>
                <c:pt idx="2">
                  <c:v>Accumulated funds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391763</c:v>
                </c:pt>
                <c:pt idx="1">
                  <c:v>141382</c:v>
                </c:pt>
                <c:pt idx="2">
                  <c:v>102410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(USD)</c:v>
                </c:pt>
              </c:strCache>
            </c:strRef>
          </c:tx>
          <c:spPr>
            <a:solidFill>
              <a:srgbClr val="F0A61E"/>
            </a:solidFill>
          </c:spPr>
          <c:cat>
            <c:strRef>
              <c:f>Sheet1!$A$2:$A$4</c:f>
              <c:strCache>
                <c:ptCount val="3"/>
                <c:pt idx="0">
                  <c:v>Total assets</c:v>
                </c:pt>
                <c:pt idx="1">
                  <c:v>Loans &amp; advances</c:v>
                </c:pt>
                <c:pt idx="2">
                  <c:v>Accumulated funds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495531</c:v>
                </c:pt>
                <c:pt idx="1">
                  <c:v>217485</c:v>
                </c:pt>
                <c:pt idx="2">
                  <c:v>176628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sz="13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solidFill>
                <a:srgbClr val="FFFFFF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Borrowings ÷ accumulated funds</c:v>
                </c:pt>
              </c:strCache>
            </c:strRef>
          </c:tx>
          <c:dPt>
            <c:idx val="0"/>
            <c:spPr>
              <a:solidFill>
                <a:srgbClr val="8A8A85"/>
              </a:solidFill>
            </c:spPr>
          </c:dPt>
          <c:dPt>
            <c:idx val="1"/>
            <c:spPr>
              <a:solidFill>
                <a:srgbClr val="F0A61E"/>
              </a:solidFill>
            </c:spPr>
          </c:dPt>
          <c:dPt>
            <c:idx val="2"/>
            <c:spPr>
              <a:solidFill>
                <a:srgbClr val="BFE3DF"/>
              </a:solidFill>
            </c:spPr>
          </c:dPt>
          <c:dPt>
            <c:idx val="3"/>
            <c:spPr>
              <a:solidFill>
                <a:srgbClr val="6B6B68"/>
              </a:solidFill>
            </c:spPr>
          </c:dPt>
          <c:cat>
            <c:strRef>
              <c:f>Sheet1!$A$2:$A$5</c:f>
              <c:strCache>
                <c:ptCount val="4"/>
                <c:pt idx="0">
                  <c:v>End-2024
(actual)</c:v>
                </c:pt>
                <c:pt idx="1">
                  <c:v>End-2025
(actual)</c:v>
                </c:pt>
                <c:pt idx="2">
                  <c:v>+ $280k facility
(pro forma)</c:v>
                </c:pt>
                <c:pt idx="3">
                  <c:v>If granted at
2024 position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2.3</c:v>
                </c:pt>
                <c:pt idx="1">
                  <c:v>1.4</c:v>
                </c:pt>
                <c:pt idx="2">
                  <c:v>3.0</c:v>
                </c:pt>
                <c:pt idx="3">
                  <c:v>5.0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sz="18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Overdue amount (USD)</c:v>
                </c:pt>
              </c:strCache>
            </c:strRef>
          </c:tx>
          <c:dPt>
            <c:idx val="0"/>
            <c:spPr>
              <a:solidFill>
                <a:srgbClr val="F0A61E"/>
              </a:solidFill>
            </c:spPr>
          </c:dPt>
          <c:dPt>
            <c:idx val="1"/>
            <c:spPr>
              <a:solidFill>
                <a:srgbClr val="F0A61E"/>
              </a:solidFill>
            </c:spPr>
          </c:dPt>
          <c:dPt>
            <c:idx val="2"/>
            <c:spPr>
              <a:solidFill>
                <a:srgbClr val="F0A61E"/>
              </a:solidFill>
            </c:spPr>
          </c:dPt>
          <c:dPt>
            <c:idx val="3"/>
            <c:spPr>
              <a:solidFill>
                <a:srgbClr val="F0A61E"/>
              </a:solidFill>
            </c:spPr>
          </c:dPt>
          <c:cat>
            <c:strRef>
              <c:f>Sheet1!$A$2:$A$5</c:f>
              <c:strCache>
                <c:ptCount val="4"/>
                <c:pt idx="0">
                  <c:v>1–30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90+ days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1075</c:v>
                </c:pt>
                <c:pt idx="2">
                  <c:v>690</c:v>
                </c:pt>
                <c:pt idx="3">
                  <c:v>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sz="16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F2F7A0-CEE1-9945-8F03-59E912EC6B07}" type="datetimeFigureOut">
              <a:rPr lang="en-HN" smtClean="0"/>
              <a:t>8/9/26</a:t>
            </a:fld>
            <a:endParaRPr lang="en-H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FCB467-324A-BB43-9110-ECE873B44506}" type="slidenum">
              <a:rPr lang="en-HN" smtClean="0"/>
              <a:t>‹#›</a:t>
            </a:fld>
            <a:endParaRPr lang="en-HN"/>
          </a:p>
        </p:txBody>
      </p:sp>
    </p:spTree>
    <p:extLst>
      <p:ext uri="{BB962C8B-B14F-4D97-AF65-F5344CB8AC3E}">
        <p14:creationId xmlns:p14="http://schemas.microsoft.com/office/powerpoint/2010/main" val="9879227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HN"/>
              <a:t>Total presentation time: 35 minutes maximum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FCB467-324A-BB43-9110-ECE873B44506}" type="slidenum">
              <a:rPr lang="en-HN" smtClean="0"/>
              <a:t>10</a:t>
            </a:fld>
            <a:endParaRPr lang="en-HN"/>
          </a:p>
        </p:txBody>
      </p:sp>
    </p:spTree>
    <p:extLst>
      <p:ext uri="{BB962C8B-B14F-4D97-AF65-F5344CB8AC3E}">
        <p14:creationId xmlns:p14="http://schemas.microsoft.com/office/powerpoint/2010/main" val="208880920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svg"/><Relationship Id="rId3" Type="http://schemas.openxmlformats.org/officeDocument/2006/relationships/image" Target="../media/image2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7B6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708504"/>
            <a:ext cx="5396889" cy="1040128"/>
          </a:xfrm>
          <a:custGeom>
            <a:avLst/>
            <a:gdLst/>
            <a:ahLst/>
            <a:cxnLst/>
            <a:rect l="l" t="t" r="r" b="b"/>
            <a:pathLst>
              <a:path w="5396889" h="1040128">
                <a:moveTo>
                  <a:pt x="0" y="0"/>
                </a:moveTo>
                <a:lnTo>
                  <a:pt x="5396889" y="0"/>
                </a:lnTo>
                <a:lnTo>
                  <a:pt x="5396889" y="1040127"/>
                </a:lnTo>
                <a:lnTo>
                  <a:pt x="0" y="10401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sp>
        <p:nvSpPr>
          <p:cNvPr id="3" name="TextBox 3"/>
          <p:cNvSpPr txBox="1"/>
          <p:nvPr/>
        </p:nvSpPr>
        <p:spPr>
          <a:xfrm>
            <a:off x="1028700" y="4572000"/>
            <a:ext cx="6824766" cy="9144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l">
              <a:lnSpc>
                <a:spcPts val="7418"/>
              </a:lnSpc>
            </a:pPr>
            <a:r>
              <a:rPr lang="en-US" sz="4000">
                <a:solidFill>
                  <a:srgbClr val="FFFFFF"/>
                </a:solidFill>
                <a:latin typeface="Myriad Pro 1"/>
              </a:rPr>
              <a:t>Formal Loan Application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3017520"/>
            <a:ext cx="9844516" cy="13716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>
              <a:lnSpc>
                <a:spcPct val="115000"/>
              </a:lnSpc>
            </a:pPr>
            <a:r>
              <a:rPr lang="en-US" sz="3600" dirty="0">
                <a:solidFill>
                  <a:srgbClr val="FFFFFF"/>
                </a:solidFill>
                <a:latin typeface="Myriad Pro 2"/>
              </a:rPr>
              <a:t>PEAK Empowerment &amp; Development Foundation</a:t>
            </a:r>
            <a:endParaRPr lang="en-US" dirty="0"/>
          </a:p>
        </p:txBody>
      </p:sp>
      <p:sp>
        <p:nvSpPr>
          <p:cNvPr id="5" name="TextBox 5"/>
          <p:cNvSpPr txBox="1"/>
          <p:nvPr/>
        </p:nvSpPr>
        <p:spPr>
          <a:xfrm>
            <a:off x="1028700" y="5669280"/>
            <a:ext cx="7677205" cy="54864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>
              <a:lnSpc>
                <a:spcPct val="115000"/>
              </a:lnSpc>
            </a:pPr>
            <a:r>
              <a:rPr lang="en-US" sz="2800">
                <a:solidFill>
                  <a:srgbClr val="FFFFFF"/>
                </a:solidFill>
                <a:latin typeface="Myriad Pro 1"/>
              </a:rPr>
              <a:t>Jeremiah Akoyere  ·  Partnership Manager</a:t>
            </a:r>
            <a:endParaRPr lang="en-US" sz="3999" dirty="0">
              <a:solidFill>
                <a:srgbClr val="FFFFFF"/>
              </a:solidFill>
              <a:latin typeface="Myriad Pro 1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" name="Group 3"/>
          <p:cNvGrpSpPr/>
          <p:nvPr/>
        </p:nvGrpSpPr>
        <p:grpSpPr>
          <a:xfrm>
            <a:off x="541861" y="1424574"/>
            <a:ext cx="2471241" cy="733863"/>
            <a:chOff x="0" y="0"/>
            <a:chExt cx="650862" cy="1932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50862" cy="193281"/>
            </a:xfrm>
            <a:custGeom>
              <a:avLst/>
              <a:gdLst/>
              <a:ahLst/>
              <a:cxnLst/>
              <a:rect l="l" t="t" r="r" b="b"/>
              <a:pathLst>
                <a:path w="650862" h="193281">
                  <a:moveTo>
                    <a:pt x="0" y="0"/>
                  </a:moveTo>
                  <a:lnTo>
                    <a:pt x="650862" y="0"/>
                  </a:lnTo>
                  <a:lnTo>
                    <a:pt x="650862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650862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209340" y="2594625"/>
            <a:ext cx="10436478" cy="2000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800" dirty="0">
                <a:solidFill>
                  <a:srgbClr val="57B6B2"/>
                </a:solidFill>
                <a:latin typeface="Myriad Pro 1"/>
              </a:rPr>
              <a:t>Why is there a current need for a PW loan?</a:t>
            </a:r>
          </a:p>
          <a:p>
            <a:pPr marL="819785" lvl="1" indent="-409575" algn="l">
              <a:lnSpc>
                <a:spcPct val="115000"/>
              </a:lnSpc>
              <a:buFont typeface="Arial"/>
              <a:buChar char="•"/>
            </a:pPr>
            <a:r>
              <a:rPr lang="en-US" sz="2800" dirty="0">
                <a:solidFill>
                  <a:srgbClr val="57B6B2"/>
                </a:solidFill>
                <a:latin typeface="Myriad Pro 1"/>
              </a:rPr>
              <a:t>PEAK's current $187,889 loan portfolio is healthy — only 0.98% overdue — but capital is the binding constraint on growth.</a:t>
            </a:r>
          </a:p>
          <a:p>
            <a:pPr marL="819785" lvl="1" indent="-409575">
              <a:lnSpc>
                <a:spcPct val="115000"/>
              </a:lnSpc>
              <a:buFont typeface="Arial"/>
              <a:buChar char="•"/>
            </a:pPr>
            <a:r>
              <a:rPr lang="en-US" sz="2800" dirty="0">
                <a:solidFill>
                  <a:srgbClr val="57B6B2"/>
                </a:solidFill>
                <a:latin typeface="Myriad Pro 1"/>
              </a:rPr>
              <a:t>This facility would extend affordable credit to 2,000+ underserved customers, 70%+ of them women and youth.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1861" y="1424574"/>
            <a:ext cx="3566160" cy="733863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711491" y="1364771"/>
            <a:ext cx="3291840" cy="941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41"/>
              </a:lnSpc>
            </a:pPr>
            <a:r>
              <a:rPr lang="en-US" sz="5399" dirty="0">
                <a:solidFill>
                  <a:srgbClr val="FFFFFF"/>
                </a:solidFill>
                <a:latin typeface="Myriad Pro 2"/>
              </a:rPr>
              <a:t>CONTEXT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(1 minute)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41861" y="2747025"/>
            <a:ext cx="5381753" cy="5372634"/>
            <a:chOff x="0" y="0"/>
            <a:chExt cx="812800" cy="81142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1423"/>
            </a:xfrm>
            <a:custGeom>
              <a:avLst/>
              <a:gdLst/>
              <a:ahLst/>
              <a:cxnLst/>
              <a:rect l="l" t="t" r="r" b="b"/>
              <a:pathLst>
                <a:path w="812800" h="811423">
                  <a:moveTo>
                    <a:pt x="0" y="0"/>
                  </a:moveTo>
                  <a:lnTo>
                    <a:pt x="812800" y="0"/>
                  </a:lnTo>
                  <a:lnTo>
                    <a:pt x="812800" y="811423"/>
                  </a:lnTo>
                  <a:lnTo>
                    <a:pt x="0" y="811423"/>
                  </a:lnTo>
                  <a:close/>
                </a:path>
              </a:pathLst>
            </a:custGeom>
            <a:blipFill>
              <a:blip r:embed="rId3"/>
              <a:stretch>
                <a:fillRect l="-38738" r="-38738"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" name="Group 3"/>
          <p:cNvGrpSpPr/>
          <p:nvPr/>
        </p:nvGrpSpPr>
        <p:grpSpPr>
          <a:xfrm>
            <a:off x="541861" y="1424574"/>
            <a:ext cx="3630014" cy="733863"/>
            <a:chOff x="0" y="0"/>
            <a:chExt cx="956053" cy="1932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56053" cy="193281"/>
            </a:xfrm>
            <a:custGeom>
              <a:avLst/>
              <a:gdLst/>
              <a:ahLst/>
              <a:cxnLst/>
              <a:rect l="l" t="t" r="r" b="b"/>
              <a:pathLst>
                <a:path w="956053" h="193281">
                  <a:moveTo>
                    <a:pt x="0" y="0"/>
                  </a:moveTo>
                  <a:lnTo>
                    <a:pt x="956053" y="0"/>
                  </a:lnTo>
                  <a:lnTo>
                    <a:pt x="956053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956053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209340" y="2594625"/>
            <a:ext cx="10436478" cy="6056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400">
                <a:solidFill>
                  <a:srgbClr val="57B6B2"/>
                </a:solidFill>
                <a:latin typeface="Myriad Pro 1"/>
              </a:rPr>
              <a:t>PEAK Empowerment &amp; Development Foundation — a Nigerian NGO-MFI established in 2021.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400">
                <a:solidFill>
                  <a:srgbClr val="57B6B2"/>
                </a:solidFill>
                <a:latin typeface="Myriad Pro 1"/>
              </a:rPr>
              <a:t>Focus: microcredit, enterprise financing, savings mobilisation, financial literacy and digital financial services for underserved communities.</a:t>
            </a:r>
          </a:p>
          <a:p>
            <a:pPr marL="1640831" lvl="2" indent="-546944" algn="l">
              <a:lnSpc>
                <a:spcPct val="115000"/>
              </a:lnSpc>
              <a:buFont typeface="Arial"/>
              <a:buChar char="⚬"/>
            </a:pPr>
            <a:r>
              <a:rPr lang="en-US" sz="2400">
                <a:solidFill>
                  <a:srgbClr val="57B6B2"/>
                </a:solidFill>
                <a:latin typeface="Myriad Pro 1"/>
              </a:rPr>
              <a:t>5 credit products — MiniMonie, PeakLite/MicroGroup, Sabi Trader, SME and BetaBiz — plus savings at 17% p.a., agency banking and micro-health insurance partnerships.</a:t>
            </a:r>
          </a:p>
          <a:p>
            <a:pPr marL="1640831" lvl="2" indent="-546944" algn="l">
              <a:lnSpc>
                <a:spcPct val="115000"/>
              </a:lnSpc>
              <a:buFont typeface="Arial"/>
              <a:buChar char="⚬"/>
            </a:pPr>
            <a:r>
              <a:rPr lang="en-US" sz="2400">
                <a:solidFill>
                  <a:srgbClr val="57B6B2"/>
                </a:solidFill>
                <a:latin typeface="Myriad Pro 1"/>
              </a:rPr>
              <a:t>This facility funds PEAK's core lending book — the engine behind all five credit products.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400">
                <a:solidFill>
                  <a:srgbClr val="57B6B2"/>
                </a:solidFill>
                <a:latin typeface="Myriad Pro 1"/>
              </a:rPr>
              <a:t>Governed by a Board of Trustees; led day-to-day by CEO Joe Onyeabor and Executive Director Abiodun Yusuph.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400">
                <a:solidFill>
                  <a:srgbClr val="57B6B2"/>
                </a:solidFill>
                <a:latin typeface="Myriad Pro 1"/>
              </a:rPr>
              <a:t>70+ staff across 6 functional teams: credit &amp; field operations, branch operations, human capital, customer service and partnerships.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491" y="1364771"/>
            <a:ext cx="10058400" cy="1078611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711491" y="1364771"/>
            <a:ext cx="9601200" cy="1078611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4000" dirty="0">
                <a:solidFill>
                  <a:srgbClr val="FFFFFF"/>
                </a:solidFill>
                <a:latin typeface="Myriad Pro 2"/>
              </a:rPr>
              <a:t>LCI OVERVIEW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(1 minute)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41861" y="2747025"/>
            <a:ext cx="5381753" cy="5372634"/>
            <a:chOff x="0" y="0"/>
            <a:chExt cx="812800" cy="81142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1423"/>
            </a:xfrm>
            <a:custGeom>
              <a:avLst/>
              <a:gdLst/>
              <a:ahLst/>
              <a:cxnLst/>
              <a:rect l="l" t="t" r="r" b="b"/>
              <a:pathLst>
                <a:path w="812800" h="811423">
                  <a:moveTo>
                    <a:pt x="0" y="0"/>
                  </a:moveTo>
                  <a:lnTo>
                    <a:pt x="812800" y="0"/>
                  </a:lnTo>
                  <a:lnTo>
                    <a:pt x="812800" y="811423"/>
                  </a:lnTo>
                  <a:lnTo>
                    <a:pt x="0" y="811423"/>
                  </a:lnTo>
                  <a:close/>
                </a:path>
              </a:pathLst>
            </a:custGeom>
            <a:blipFill>
              <a:blip r:embed="rId3"/>
              <a:stretch>
                <a:fillRect l="-38738" r="-38738"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" name="Group 3"/>
          <p:cNvGrpSpPr/>
          <p:nvPr/>
        </p:nvGrpSpPr>
        <p:grpSpPr>
          <a:xfrm>
            <a:off x="541861" y="1424574"/>
            <a:ext cx="5381753" cy="733863"/>
            <a:chOff x="0" y="0"/>
            <a:chExt cx="1417416" cy="1932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17416" cy="193281"/>
            </a:xfrm>
            <a:custGeom>
              <a:avLst/>
              <a:gdLst/>
              <a:ahLst/>
              <a:cxnLst/>
              <a:rect l="l" t="t" r="r" b="b"/>
              <a:pathLst>
                <a:path w="1417416" h="193281">
                  <a:moveTo>
                    <a:pt x="0" y="0"/>
                  </a:moveTo>
                  <a:lnTo>
                    <a:pt x="1417416" y="0"/>
                  </a:lnTo>
                  <a:lnTo>
                    <a:pt x="1417416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417416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209340" y="2594625"/>
            <a:ext cx="10436478" cy="53898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An official Partners Worldwide LCI since 2023 — this is PEAK's second facility request.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BA Team: Letter of Recommendation submitted; response pending at the time of this submission.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Prior PW support: a $100,000 loan facility and a $20,000 Digital LEAP Grant — both fully repaid / fully utilized, no issues recorded.</a:t>
            </a:r>
          </a:p>
          <a:p>
            <a:pPr marL="1640831" lvl="2" indent="-546944" algn="l">
              <a:lnSpc>
                <a:spcPct val="115000"/>
              </a:lnSpc>
              <a:buFont typeface="Arial"/>
              <a:buChar char="⚬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2025 was the year PEAK's lending operation turned: the loan book grew 54% to $217,485, after being flat across 2023–2024.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Total assets up 26% to $495,531; accumulated funds up 72% to $176,628.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Leverage improved from 2.3x accumulated funds (end-2024) to 1.4x (end-2025) — this facility would take it to ~3x, vs ~5x had it been granted a year ago.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583" y="1364771"/>
            <a:ext cx="10058400" cy="1078611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715583" y="1364771"/>
            <a:ext cx="9601200" cy="1078611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4000" dirty="0">
                <a:solidFill>
                  <a:srgbClr val="FFFFFF"/>
                </a:solidFill>
                <a:latin typeface="Myriad Pro 2"/>
              </a:rPr>
              <a:t>LCI HISTORY WITH PW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(2 minutes)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41861" y="2747025"/>
            <a:ext cx="5381753" cy="5372634"/>
            <a:chOff x="0" y="0"/>
            <a:chExt cx="812800" cy="81142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1423"/>
            </a:xfrm>
            <a:custGeom>
              <a:avLst/>
              <a:gdLst/>
              <a:ahLst/>
              <a:cxnLst/>
              <a:rect l="l" t="t" r="r" b="b"/>
              <a:pathLst>
                <a:path w="812800" h="811423">
                  <a:moveTo>
                    <a:pt x="0" y="0"/>
                  </a:moveTo>
                  <a:lnTo>
                    <a:pt x="812800" y="0"/>
                  </a:lnTo>
                  <a:lnTo>
                    <a:pt x="812800" y="811423"/>
                  </a:lnTo>
                  <a:lnTo>
                    <a:pt x="0" y="811423"/>
                  </a:lnTo>
                  <a:close/>
                </a:path>
              </a:pathLst>
            </a:custGeom>
            <a:blipFill>
              <a:blip r:embed="rId3"/>
              <a:stretch>
                <a:fillRect l="-38738" r="-38738"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" name="Group 3"/>
          <p:cNvGrpSpPr/>
          <p:nvPr/>
        </p:nvGrpSpPr>
        <p:grpSpPr>
          <a:xfrm>
            <a:off x="541861" y="1424574"/>
            <a:ext cx="5525588" cy="733863"/>
            <a:chOff x="0" y="0"/>
            <a:chExt cx="1455299" cy="1932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55299" cy="193281"/>
            </a:xfrm>
            <a:custGeom>
              <a:avLst/>
              <a:gdLst/>
              <a:ahLst/>
              <a:cxnLst/>
              <a:rect l="l" t="t" r="r" b="b"/>
              <a:pathLst>
                <a:path w="1455299" h="193281">
                  <a:moveTo>
                    <a:pt x="0" y="0"/>
                  </a:moveTo>
                  <a:lnTo>
                    <a:pt x="1455299" y="0"/>
                  </a:lnTo>
                  <a:lnTo>
                    <a:pt x="1455299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455299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209340" y="2594625"/>
            <a:ext cx="10436478" cy="3389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600">
                <a:solidFill>
                  <a:srgbClr val="57B6B2"/>
                </a:solidFill>
                <a:latin typeface="Myriad Pro 1"/>
              </a:rPr>
              <a:t>Why is a PW loan the right approach — and are there any concerns?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600">
                <a:solidFill>
                  <a:srgbClr val="57B6B2"/>
                </a:solidFill>
                <a:latin typeface="Myriad Pro 1"/>
              </a:rPr>
              <a:t>PM Jeremiah Akoyere: “PEAK has repaid PW once already, has the governance and staffing to carry a facility of this size, and its credit discipline is documented on evidence.”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600">
                <a:solidFill>
                  <a:srgbClr val="57B6B2"/>
                </a:solidFill>
                <a:latin typeface="Myriad Pro 1"/>
              </a:rPr>
              <a:t>No material concerns raised. West Africa Regional Facilitator Teryila Ubwa is supportive; the BA Team's Letter of Recommendation is still pending.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583" y="1364771"/>
            <a:ext cx="10058400" cy="1078611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715583" y="1364771"/>
            <a:ext cx="9601200" cy="1078611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4000" dirty="0">
                <a:solidFill>
                  <a:srgbClr val="FFFFFF"/>
                </a:solidFill>
                <a:latin typeface="Myriad Pro 2"/>
              </a:rPr>
              <a:t>PM,BA, AND LCI INPUT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(1 minute)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41861" y="2747025"/>
            <a:ext cx="5381753" cy="5372634"/>
            <a:chOff x="0" y="0"/>
            <a:chExt cx="812800" cy="81142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1423"/>
            </a:xfrm>
            <a:custGeom>
              <a:avLst/>
              <a:gdLst/>
              <a:ahLst/>
              <a:cxnLst/>
              <a:rect l="l" t="t" r="r" b="b"/>
              <a:pathLst>
                <a:path w="812800" h="811423">
                  <a:moveTo>
                    <a:pt x="0" y="0"/>
                  </a:moveTo>
                  <a:lnTo>
                    <a:pt x="812800" y="0"/>
                  </a:lnTo>
                  <a:lnTo>
                    <a:pt x="812800" y="811423"/>
                  </a:lnTo>
                  <a:lnTo>
                    <a:pt x="0" y="811423"/>
                  </a:lnTo>
                  <a:close/>
                </a:path>
              </a:pathLst>
            </a:custGeom>
            <a:blipFill>
              <a:blip r:embed="rId3"/>
              <a:stretch>
                <a:fillRect l="-38738" r="-38738"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668999" y="8586528"/>
            <a:ext cx="973677" cy="1133831"/>
          </a:xfrm>
          <a:custGeom>
            <a:avLst/>
            <a:gdLst/>
            <a:ahLst/>
            <a:cxnLst/>
            <a:rect l="l" t="t" r="r" b="b"/>
            <a:pathLst>
              <a:path w="973677" h="1133831">
                <a:moveTo>
                  <a:pt x="0" y="0"/>
                </a:moveTo>
                <a:lnTo>
                  <a:pt x="973678" y="0"/>
                </a:lnTo>
                <a:lnTo>
                  <a:pt x="973678" y="1133831"/>
                </a:lnTo>
                <a:lnTo>
                  <a:pt x="0" y="11338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sp>
        <p:nvSpPr>
          <p:cNvPr id="3" name="Freeform 3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4" name="Group 4"/>
          <p:cNvGrpSpPr/>
          <p:nvPr/>
        </p:nvGrpSpPr>
        <p:grpSpPr>
          <a:xfrm>
            <a:off x="541861" y="3027002"/>
            <a:ext cx="6010925" cy="2358859"/>
            <a:chOff x="0" y="0"/>
            <a:chExt cx="1583124" cy="62126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583124" cy="621263"/>
            </a:xfrm>
            <a:custGeom>
              <a:avLst/>
              <a:gdLst/>
              <a:ahLst/>
              <a:cxnLst/>
              <a:rect l="l" t="t" r="r" b="b"/>
              <a:pathLst>
                <a:path w="1583124" h="621263">
                  <a:moveTo>
                    <a:pt x="0" y="0"/>
                  </a:moveTo>
                  <a:lnTo>
                    <a:pt x="1583124" y="0"/>
                  </a:lnTo>
                  <a:lnTo>
                    <a:pt x="1583124" y="621263"/>
                  </a:lnTo>
                  <a:lnTo>
                    <a:pt x="0" y="621263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0"/>
              <a:ext cx="1583124" cy="6212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53944" y="3294445"/>
            <a:ext cx="1058004" cy="1058004"/>
            <a:chOff x="0" y="0"/>
            <a:chExt cx="1410672" cy="1410672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410672" cy="1410672"/>
              <a:chOff x="0" y="0"/>
              <a:chExt cx="812800" cy="8128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5A800"/>
              </a:solidFill>
            </p:spPr>
            <p:txBody>
              <a:bodyPr/>
              <a:lstStyle/>
              <a:p>
                <a:endParaRPr lang="en-HN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sp>
          <p:nvSpPr>
            <p:cNvPr id="11" name="Freeform 11"/>
            <p:cNvSpPr/>
            <p:nvPr/>
          </p:nvSpPr>
          <p:spPr>
            <a:xfrm>
              <a:off x="347217" y="361094"/>
              <a:ext cx="716239" cy="688484"/>
            </a:xfrm>
            <a:custGeom>
              <a:avLst/>
              <a:gdLst/>
              <a:ahLst/>
              <a:cxnLst/>
              <a:rect l="l" t="t" r="r" b="b"/>
              <a:pathLst>
                <a:path w="716239" h="688484">
                  <a:moveTo>
                    <a:pt x="0" y="0"/>
                  </a:moveTo>
                  <a:lnTo>
                    <a:pt x="716238" y="0"/>
                  </a:lnTo>
                  <a:lnTo>
                    <a:pt x="716238" y="688484"/>
                  </a:lnTo>
                  <a:lnTo>
                    <a:pt x="0" y="6884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41861" y="1290440"/>
            <a:ext cx="6010925" cy="733863"/>
            <a:chOff x="0" y="0"/>
            <a:chExt cx="1583124" cy="19328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83124" cy="193281"/>
            </a:xfrm>
            <a:custGeom>
              <a:avLst/>
              <a:gdLst/>
              <a:ahLst/>
              <a:cxnLst/>
              <a:rect l="l" t="t" r="r" b="b"/>
              <a:pathLst>
                <a:path w="1583124" h="193281">
                  <a:moveTo>
                    <a:pt x="0" y="0"/>
                  </a:moveTo>
                  <a:lnTo>
                    <a:pt x="1583124" y="0"/>
                  </a:lnTo>
                  <a:lnTo>
                    <a:pt x="1583124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0"/>
              <a:ext cx="1583124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785079" y="3027002"/>
            <a:ext cx="10370759" cy="6013693"/>
            <a:chOff x="0" y="0"/>
            <a:chExt cx="2731393" cy="158385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31393" cy="1583853"/>
            </a:xfrm>
            <a:custGeom>
              <a:avLst/>
              <a:gdLst/>
              <a:ahLst/>
              <a:cxnLst/>
              <a:rect l="l" t="t" r="r" b="b"/>
              <a:pathLst>
                <a:path w="2731393" h="1583853">
                  <a:moveTo>
                    <a:pt x="0" y="0"/>
                  </a:moveTo>
                  <a:lnTo>
                    <a:pt x="2731393" y="0"/>
                  </a:lnTo>
                  <a:lnTo>
                    <a:pt x="2731393" y="1583853"/>
                  </a:lnTo>
                  <a:lnTo>
                    <a:pt x="0" y="1583853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731393" cy="1583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196092" y="3294445"/>
            <a:ext cx="1058004" cy="1058004"/>
            <a:chOff x="0" y="0"/>
            <a:chExt cx="1410672" cy="1410672"/>
          </a:xfrm>
        </p:grpSpPr>
        <p:grpSp>
          <p:nvGrpSpPr>
            <p:cNvPr id="19" name="Group 19"/>
            <p:cNvGrpSpPr/>
            <p:nvPr/>
          </p:nvGrpSpPr>
          <p:grpSpPr>
            <a:xfrm>
              <a:off x="0" y="0"/>
              <a:ext cx="1410672" cy="1410672"/>
              <a:chOff x="0" y="0"/>
              <a:chExt cx="812800" cy="8128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5A800"/>
              </a:solidFill>
            </p:spPr>
            <p:txBody>
              <a:bodyPr/>
              <a:lstStyle/>
              <a:p>
                <a:endParaRPr lang="en-HN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sp>
          <p:nvSpPr>
            <p:cNvPr id="22" name="Freeform 22"/>
            <p:cNvSpPr/>
            <p:nvPr/>
          </p:nvSpPr>
          <p:spPr>
            <a:xfrm>
              <a:off x="361094" y="365596"/>
              <a:ext cx="688484" cy="688484"/>
            </a:xfrm>
            <a:custGeom>
              <a:avLst/>
              <a:gdLst/>
              <a:ahLst/>
              <a:cxnLst/>
              <a:rect l="l" t="t" r="r" b="b"/>
              <a:pathLst>
                <a:path w="688484" h="688484">
                  <a:moveTo>
                    <a:pt x="0" y="0"/>
                  </a:moveTo>
                  <a:lnTo>
                    <a:pt x="688484" y="0"/>
                  </a:lnTo>
                  <a:lnTo>
                    <a:pt x="688484" y="688485"/>
                  </a:lnTo>
                  <a:lnTo>
                    <a:pt x="0" y="6884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41861" y="5562989"/>
            <a:ext cx="6010925" cy="3477706"/>
            <a:chOff x="0" y="0"/>
            <a:chExt cx="1583124" cy="91593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583124" cy="915939"/>
            </a:xfrm>
            <a:custGeom>
              <a:avLst/>
              <a:gdLst/>
              <a:ahLst/>
              <a:cxnLst/>
              <a:rect l="l" t="t" r="r" b="b"/>
              <a:pathLst>
                <a:path w="1583124" h="915939">
                  <a:moveTo>
                    <a:pt x="0" y="0"/>
                  </a:moveTo>
                  <a:lnTo>
                    <a:pt x="1583124" y="0"/>
                  </a:lnTo>
                  <a:lnTo>
                    <a:pt x="1583124" y="915939"/>
                  </a:lnTo>
                  <a:lnTo>
                    <a:pt x="0" y="915939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0"/>
              <a:ext cx="1583124" cy="9159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3944" y="5830432"/>
            <a:ext cx="1058004" cy="1058004"/>
            <a:chOff x="0" y="0"/>
            <a:chExt cx="812800" cy="812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1177506" y="6053994"/>
            <a:ext cx="610880" cy="610880"/>
          </a:xfrm>
          <a:custGeom>
            <a:avLst/>
            <a:gdLst/>
            <a:ahLst/>
            <a:cxnLst/>
            <a:rect l="l" t="t" r="r" b="b"/>
            <a:pathLst>
              <a:path w="610880" h="610880">
                <a:moveTo>
                  <a:pt x="0" y="0"/>
                </a:moveTo>
                <a:lnTo>
                  <a:pt x="610880" y="0"/>
                </a:lnTo>
                <a:lnTo>
                  <a:pt x="610880" y="610880"/>
                </a:lnTo>
                <a:lnTo>
                  <a:pt x="0" y="6108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sp>
        <p:nvSpPr>
          <p:cNvPr id="38" name="Rectangle 37"/>
          <p:cNvSpPr/>
          <p:nvPr/>
        </p:nvSpPr>
        <p:spPr>
          <a:xfrm>
            <a:off x="719525" y="1254092"/>
            <a:ext cx="10058400" cy="1078611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30"/>
          <p:cNvSpPr txBox="1"/>
          <p:nvPr/>
        </p:nvSpPr>
        <p:spPr>
          <a:xfrm>
            <a:off x="719525" y="1254092"/>
            <a:ext cx="9601200" cy="1078611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4000" dirty="0">
                <a:solidFill>
                  <a:srgbClr val="FFFFFF"/>
                </a:solidFill>
                <a:latin typeface="Myriad Pro 2"/>
              </a:rPr>
              <a:t>APPLICATION SUMMARY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(2 minutes)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318207" y="3504359"/>
            <a:ext cx="2023393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3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Myriad Pro 2"/>
              </a:rPr>
              <a:t>LOAN AMOUNT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53944" y="4458744"/>
            <a:ext cx="3873620" cy="588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4000">
                <a:solidFill>
                  <a:srgbClr val="FFFFFF"/>
                </a:solidFill>
                <a:latin typeface="Myriad Pro 1"/>
              </a:rPr>
              <a:t>US$280,000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558896" y="3504359"/>
            <a:ext cx="2091705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3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Myriad Pro 2"/>
              </a:rPr>
              <a:t>LOAN PURPOSE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380119" y="4623336"/>
            <a:ext cx="9435207" cy="1130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ct val="115000"/>
              </a:lnSpc>
              <a:spcBef>
                <a:spcPct val="0"/>
              </a:spcBef>
            </a:pPr>
            <a:r>
              <a:rPr lang="en-US" sz="2400" u="none" strike="noStrike">
                <a:solidFill>
                  <a:srgbClr val="FFFFFF"/>
                </a:solidFill>
                <a:latin typeface="Myriad Pro 1"/>
              </a:rPr>
              <a:t>100% deployed into PEAK's lending portfolio — expanding affordable credit for women-owned businesses, youth entrepreneurs, rural traders, artisans and SMEs.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318206" y="6040346"/>
            <a:ext cx="3701593" cy="488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839"/>
              </a:lnSpc>
              <a:spcBef>
                <a:spcPct val="0"/>
              </a:spcBef>
            </a:pPr>
            <a:r>
              <a:rPr lang="en-US" sz="3199" dirty="0">
                <a:solidFill>
                  <a:srgbClr val="FFFFFF"/>
                </a:solidFill>
                <a:latin typeface="Myriad Pro 2"/>
              </a:rPr>
              <a:t>LOAN REPORTING METHOD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53944" y="7291153"/>
            <a:ext cx="5421178" cy="1130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200">
                <a:solidFill>
                  <a:srgbClr val="FFFFFF"/>
                </a:solidFill>
                <a:latin typeface="Myriad Pro 1"/>
              </a:rPr>
              <a:t>Mid-term review and evaluation to affirm continuance of the loan, alongside regular reporting on portfolio performance.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48186" y="2049560"/>
            <a:ext cx="7191628" cy="105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79"/>
              </a:lnSpc>
            </a:pPr>
            <a:r>
              <a:rPr lang="en-US" sz="5999">
                <a:solidFill>
                  <a:srgbClr val="57B6B2"/>
                </a:solidFill>
                <a:latin typeface="Myriad Pro 2"/>
              </a:rPr>
              <a:t>PROPOSED FUNDING TERMS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343177" y="4109239"/>
            <a:ext cx="3332840" cy="3441323"/>
            <a:chOff x="0" y="0"/>
            <a:chExt cx="919432" cy="94935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19432" cy="949359"/>
            </a:xfrm>
            <a:custGeom>
              <a:avLst/>
              <a:gdLst/>
              <a:ahLst/>
              <a:cxnLst/>
              <a:rect l="l" t="t" r="r" b="b"/>
              <a:pathLst>
                <a:path w="919432" h="949359">
                  <a:moveTo>
                    <a:pt x="0" y="0"/>
                  </a:moveTo>
                  <a:lnTo>
                    <a:pt x="919432" y="0"/>
                  </a:lnTo>
                  <a:lnTo>
                    <a:pt x="919432" y="949359"/>
                  </a:lnTo>
                  <a:lnTo>
                    <a:pt x="0" y="949359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919432" cy="9874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3931395" y="4109239"/>
            <a:ext cx="3332840" cy="3441323"/>
            <a:chOff x="0" y="0"/>
            <a:chExt cx="919432" cy="9493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9432" cy="949359"/>
            </a:xfrm>
            <a:custGeom>
              <a:avLst/>
              <a:gdLst/>
              <a:ahLst/>
              <a:cxnLst/>
              <a:rect l="l" t="t" r="r" b="b"/>
              <a:pathLst>
                <a:path w="919432" h="949359">
                  <a:moveTo>
                    <a:pt x="0" y="0"/>
                  </a:moveTo>
                  <a:lnTo>
                    <a:pt x="919432" y="0"/>
                  </a:lnTo>
                  <a:lnTo>
                    <a:pt x="919432" y="949359"/>
                  </a:lnTo>
                  <a:lnTo>
                    <a:pt x="0" y="949359"/>
                  </a:lnTo>
                  <a:close/>
                </a:path>
              </a:pathLst>
            </a:custGeom>
            <a:solidFill>
              <a:srgbClr val="00444D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19432" cy="9874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515689" y="4109239"/>
            <a:ext cx="3332840" cy="3441323"/>
            <a:chOff x="0" y="0"/>
            <a:chExt cx="919432" cy="94935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19432" cy="949359"/>
            </a:xfrm>
            <a:custGeom>
              <a:avLst/>
              <a:gdLst/>
              <a:ahLst/>
              <a:cxnLst/>
              <a:rect l="l" t="t" r="r" b="b"/>
              <a:pathLst>
                <a:path w="919432" h="949359">
                  <a:moveTo>
                    <a:pt x="0" y="0"/>
                  </a:moveTo>
                  <a:lnTo>
                    <a:pt x="919432" y="0"/>
                  </a:lnTo>
                  <a:lnTo>
                    <a:pt x="919432" y="949359"/>
                  </a:lnTo>
                  <a:lnTo>
                    <a:pt x="0" y="949359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19432" cy="9874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065721" y="4109239"/>
            <a:ext cx="3332840" cy="3441323"/>
            <a:chOff x="0" y="0"/>
            <a:chExt cx="919432" cy="94935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19432" cy="949359"/>
            </a:xfrm>
            <a:custGeom>
              <a:avLst/>
              <a:gdLst/>
              <a:ahLst/>
              <a:cxnLst/>
              <a:rect l="l" t="t" r="r" b="b"/>
              <a:pathLst>
                <a:path w="919432" h="949359">
                  <a:moveTo>
                    <a:pt x="0" y="0"/>
                  </a:moveTo>
                  <a:lnTo>
                    <a:pt x="919432" y="0"/>
                  </a:lnTo>
                  <a:lnTo>
                    <a:pt x="919432" y="949359"/>
                  </a:lnTo>
                  <a:lnTo>
                    <a:pt x="0" y="949359"/>
                  </a:lnTo>
                  <a:close/>
                </a:path>
              </a:pathLst>
            </a:custGeom>
            <a:solidFill>
              <a:srgbClr val="00444D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919432" cy="9874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504557" y="3604199"/>
            <a:ext cx="1010080" cy="101008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464588" y="5405968"/>
            <a:ext cx="3019132" cy="953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n-US" sz="2200">
                <a:solidFill>
                  <a:srgbClr val="FFFFFF"/>
                </a:solidFill>
                <a:latin typeface="Myriad Pro 1"/>
              </a:rPr>
              <a:t>Deployed across PEAK's lending book to reach 2,000+ customers.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70544" y="4694768"/>
            <a:ext cx="2478107" cy="495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2600">
                <a:solidFill>
                  <a:srgbClr val="FFFFFF"/>
                </a:solidFill>
                <a:latin typeface="Myriad Pro 2"/>
              </a:rPr>
              <a:t>LOAN DISTRIBUTION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90951" y="3801981"/>
            <a:ext cx="637293" cy="509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2"/>
              </a:lnSpc>
            </a:pPr>
            <a:r>
              <a:rPr lang="en-US" sz="2673">
                <a:solidFill>
                  <a:srgbClr val="FFFFFF"/>
                </a:solidFill>
                <a:latin typeface="Myriad Pro 2"/>
              </a:rPr>
              <a:t>01.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8677069" y="3604199"/>
            <a:ext cx="1010080" cy="1010080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8103832" y="4650088"/>
            <a:ext cx="2080336" cy="49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10000"/>
              </a:lnSpc>
              <a:spcBef>
                <a:spcPct val="0"/>
              </a:spcBef>
            </a:pPr>
            <a:r>
              <a:rPr lang="en-US" sz="2600" u="none" strike="noStrike">
                <a:solidFill>
                  <a:srgbClr val="FFFFFF"/>
                </a:solidFill>
                <a:latin typeface="Myriad Pro 2"/>
              </a:rPr>
              <a:t>REPAYMENT TERM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5095002" y="3604199"/>
            <a:ext cx="1010080" cy="1010080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5281396" y="3801981"/>
            <a:ext cx="637293" cy="509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2"/>
              </a:lnSpc>
              <a:spcBef>
                <a:spcPct val="0"/>
              </a:spcBef>
            </a:pPr>
            <a:r>
              <a:rPr lang="en-US" sz="2673" u="none" strike="noStrike">
                <a:solidFill>
                  <a:srgbClr val="FFFFFF"/>
                </a:solidFill>
                <a:latin typeface="Myriad Pro 2"/>
              </a:rPr>
              <a:t>02.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863463" y="3801981"/>
            <a:ext cx="637293" cy="509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2"/>
              </a:lnSpc>
              <a:spcBef>
                <a:spcPct val="0"/>
              </a:spcBef>
            </a:pPr>
            <a:r>
              <a:rPr lang="en-US" sz="2673" u="none" strike="noStrike">
                <a:solidFill>
                  <a:srgbClr val="FFFFFF"/>
                </a:solidFill>
                <a:latin typeface="Myriad Pro 2"/>
              </a:rPr>
              <a:t>03.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757576" y="4694768"/>
            <a:ext cx="1684931" cy="49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10000"/>
              </a:lnSpc>
              <a:spcBef>
                <a:spcPct val="0"/>
              </a:spcBef>
            </a:pPr>
            <a:r>
              <a:rPr lang="en-US" sz="2600" u="none" strike="noStrike">
                <a:solidFill>
                  <a:srgbClr val="FFFFFF"/>
                </a:solidFill>
                <a:latin typeface="Myriad Pro 2"/>
              </a:rPr>
              <a:t>INTEREST RATE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227101" y="3604199"/>
            <a:ext cx="1010080" cy="1010080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2413494" y="3801981"/>
            <a:ext cx="637293" cy="509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2"/>
              </a:lnSpc>
              <a:spcBef>
                <a:spcPct val="0"/>
              </a:spcBef>
            </a:pPr>
            <a:r>
              <a:rPr lang="en-US" sz="2673" u="none" strike="noStrike">
                <a:solidFill>
                  <a:srgbClr val="FFFFFF"/>
                </a:solidFill>
                <a:latin typeface="Myriad Pro 2"/>
              </a:rPr>
              <a:t>04.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652443" y="4650088"/>
            <a:ext cx="2159397" cy="49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10000"/>
              </a:lnSpc>
              <a:spcBef>
                <a:spcPct val="0"/>
              </a:spcBef>
            </a:pPr>
            <a:r>
              <a:rPr lang="en-US" sz="2600" u="none" strike="noStrike">
                <a:solidFill>
                  <a:srgbClr val="FFFFFF"/>
                </a:solidFill>
                <a:latin typeface="Myriad Pro 2"/>
              </a:rPr>
              <a:t>COLLATERAL</a:t>
            </a:r>
          </a:p>
        </p:txBody>
      </p:sp>
      <p:sp>
        <p:nvSpPr>
          <p:cNvPr id="36" name="Freeform 36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7" name="Group 37"/>
          <p:cNvGrpSpPr/>
          <p:nvPr/>
        </p:nvGrpSpPr>
        <p:grpSpPr>
          <a:xfrm>
            <a:off x="14611983" y="4109239"/>
            <a:ext cx="3332840" cy="3441323"/>
            <a:chOff x="0" y="0"/>
            <a:chExt cx="919432" cy="94935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919432" cy="949359"/>
            </a:xfrm>
            <a:custGeom>
              <a:avLst/>
              <a:gdLst/>
              <a:ahLst/>
              <a:cxnLst/>
              <a:rect l="l" t="t" r="r" b="b"/>
              <a:pathLst>
                <a:path w="919432" h="949359">
                  <a:moveTo>
                    <a:pt x="0" y="0"/>
                  </a:moveTo>
                  <a:lnTo>
                    <a:pt x="919432" y="0"/>
                  </a:lnTo>
                  <a:lnTo>
                    <a:pt x="919432" y="949359"/>
                  </a:lnTo>
                  <a:lnTo>
                    <a:pt x="0" y="949359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38100"/>
              <a:ext cx="919432" cy="9874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5773363" y="3604199"/>
            <a:ext cx="1010080" cy="1010080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4886372" y="4650088"/>
            <a:ext cx="2784062" cy="493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10000"/>
              </a:lnSpc>
              <a:spcBef>
                <a:spcPct val="0"/>
              </a:spcBef>
            </a:pPr>
            <a:r>
              <a:rPr lang="en-US" sz="2600" u="none" strike="noStrike">
                <a:solidFill>
                  <a:srgbClr val="FFFFFF"/>
                </a:solidFill>
                <a:latin typeface="Myriad Pro 2"/>
              </a:rPr>
              <a:t>FORECASTED LOAN LOSS 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5959756" y="3801981"/>
            <a:ext cx="637293" cy="509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2"/>
              </a:lnSpc>
              <a:spcBef>
                <a:spcPct val="0"/>
              </a:spcBef>
            </a:pPr>
            <a:r>
              <a:rPr lang="en-US" sz="2673" u="none" strike="noStrike">
                <a:solidFill>
                  <a:srgbClr val="FFFFFF"/>
                </a:solidFill>
                <a:latin typeface="Myriad Pro 2"/>
              </a:rPr>
              <a:t>05.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090476" y="5391700"/>
            <a:ext cx="3019132" cy="953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n-US" sz="3000">
                <a:solidFill>
                  <a:srgbClr val="FFFFFF"/>
                </a:solidFill>
                <a:latin typeface="Myriad Pro 1"/>
              </a:rPr>
              <a:t>5%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634434" y="5405968"/>
            <a:ext cx="3019132" cy="1410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n-US" sz="2000">
                <a:solidFill>
                  <a:srgbClr val="FFFFFF"/>
                </a:solidFill>
                <a:latin typeface="Myriad Pro 1"/>
              </a:rPr>
              <a:t>36 months (3 years), with a 6-month moratorium and mid-term review.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30248" y="5405968"/>
            <a:ext cx="3019132" cy="953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n-US" sz="2400">
                <a:solidFill>
                  <a:srgbClr val="FFFFFF"/>
                </a:solidFill>
                <a:latin typeface="Myriad Pro 1"/>
              </a:rPr>
              <a:t>None (no guarantors required).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768837" y="5405968"/>
            <a:ext cx="3019132" cy="953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n-US" sz="2200">
                <a:solidFill>
                  <a:srgbClr val="FFFFFF"/>
                </a:solidFill>
                <a:latin typeface="Myriad Pro 1"/>
              </a:rPr>
              <a:t>3% forecasted loan loss rate.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(2 minutes)</a:t>
            </a:r>
          </a:p>
        </p:txBody>
      </p:sp>
      <p:grpSp>
        <p:nvGrpSpPr>
          <p:cNvPr id="50" name="Group 50"/>
          <p:cNvGrpSpPr/>
          <p:nvPr/>
        </p:nvGrpSpPr>
        <p:grpSpPr>
          <a:xfrm>
            <a:off x="3948526" y="7731537"/>
            <a:ext cx="10467166" cy="1806638"/>
            <a:chOff x="0" y="0"/>
            <a:chExt cx="2887582" cy="49839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2887582" cy="498398"/>
            </a:xfrm>
            <a:custGeom>
              <a:avLst/>
              <a:gdLst/>
              <a:ahLst/>
              <a:cxnLst/>
              <a:rect l="l" t="t" r="r" b="b"/>
              <a:pathLst>
                <a:path w="2887582" h="498398">
                  <a:moveTo>
                    <a:pt x="0" y="0"/>
                  </a:moveTo>
                  <a:lnTo>
                    <a:pt x="2887582" y="0"/>
                  </a:lnTo>
                  <a:lnTo>
                    <a:pt x="2887582" y="498398"/>
                  </a:lnTo>
                  <a:lnTo>
                    <a:pt x="0" y="498398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2887582" cy="536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3426355" y="8129817"/>
            <a:ext cx="1010080" cy="1010080"/>
            <a:chOff x="0" y="0"/>
            <a:chExt cx="812800" cy="8128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5A800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6" name="TextBox 56"/>
          <p:cNvSpPr txBox="1"/>
          <p:nvPr/>
        </p:nvSpPr>
        <p:spPr>
          <a:xfrm>
            <a:off x="3612749" y="8327598"/>
            <a:ext cx="637293" cy="509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742"/>
              </a:lnSpc>
              <a:spcBef>
                <a:spcPct val="0"/>
              </a:spcBef>
            </a:pPr>
            <a:r>
              <a:rPr lang="en-US" sz="2673" u="none" strike="noStrike">
                <a:solidFill>
                  <a:srgbClr val="FFFFFF"/>
                </a:solidFill>
                <a:latin typeface="Myriad Pro 2"/>
              </a:rPr>
              <a:t>06.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4573595" y="7872983"/>
            <a:ext cx="9144000" cy="1463040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marL="0" lvl="0" indent="0" algn="ctr">
              <a:lnSpc>
                <a:spcPct val="110000"/>
              </a:lnSpc>
              <a:spcBef>
                <a:spcPct val="0"/>
              </a:spcBef>
            </a:pPr>
            <a:r>
              <a:rPr lang="en-US" sz="2600" b="1">
                <a:solidFill>
                  <a:srgbClr val="FFFFFF"/>
                </a:solidFill>
                <a:latin typeface="Myriad Pro 2"/>
              </a:rPr>
              <a:t>OTHER LOAN CONDITIONS:</a:t>
            </a:r>
          </a:p>
          <a:p>
            <a:pPr>
              <a:lnSpc>
                <a:spcPct val="110000"/>
              </a:lnSpc>
            </a:pPr>
            <a:r>
              <a:rPr sz="1600">
                <a:solidFill>
                  <a:srgbClr val="FFFFFF"/>
                </a:solidFill>
                <a:latin typeface="Myriad Pro 1"/>
              </a:rPr>
              <a:t>Sufficient loan reserve, based on portfolio aging and trending.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" name="Group 3"/>
          <p:cNvGrpSpPr/>
          <p:nvPr/>
        </p:nvGrpSpPr>
        <p:grpSpPr>
          <a:xfrm>
            <a:off x="541861" y="1424574"/>
            <a:ext cx="6635120" cy="733863"/>
            <a:chOff x="0" y="0"/>
            <a:chExt cx="1747521" cy="1932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47521" cy="193281"/>
            </a:xfrm>
            <a:custGeom>
              <a:avLst/>
              <a:gdLst/>
              <a:ahLst/>
              <a:cxnLst/>
              <a:rect l="l" t="t" r="r" b="b"/>
              <a:pathLst>
                <a:path w="1747521" h="193281">
                  <a:moveTo>
                    <a:pt x="0" y="0"/>
                  </a:moveTo>
                  <a:lnTo>
                    <a:pt x="1747521" y="0"/>
                  </a:lnTo>
                  <a:lnTo>
                    <a:pt x="1747521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747521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209340" y="2594625"/>
            <a:ext cx="10436478" cy="6723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This facility is projected to reach 2,000+ customers and businesses across PEAK's operating communities.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70%+ women &amp; youth  ·  20% SMEs/MSMEs  ·  10% artisans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Working capital for traders and SMEs; tools and inputs for artisans; structured liquidity replacing costly informal borrowing.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Savings mobilised at 17% p.a. alongside every loan — building resilience, not just credit access.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Household level: more stable income. Enterprise level: continuity, growth and preserved livelihoods.</a:t>
            </a:r>
          </a:p>
          <a:p>
            <a:pPr marL="820416" lvl="1" indent="-410208" algn="l">
              <a:lnSpc>
                <a:spcPct val="115000"/>
              </a:lnSpc>
              <a:buFont typeface="Arial"/>
              <a:buChar char="•"/>
            </a:pPr>
            <a:r>
              <a:rPr lang="en-US" sz="2200">
                <a:solidFill>
                  <a:srgbClr val="57B6B2"/>
                </a:solidFill>
                <a:latin typeface="Myriad Pro 1"/>
              </a:rPr>
              <a:t>Financing women-led and youth-led economic activity to strengthen local economic participation.</a:t>
            </a:r>
          </a:p>
          <a:p>
            <a:pPr algn="l">
              <a:lnSpc>
                <a:spcPts val="5319"/>
              </a:lnSpc>
            </a:pPr>
            <a:endParaRPr lang="en-US" sz="3799">
              <a:solidFill>
                <a:srgbClr val="57B6B2"/>
              </a:solidFill>
              <a:latin typeface="Myriad Pro 1"/>
            </a:endParaRPr>
          </a:p>
          <a:p>
            <a:pPr algn="l">
              <a:lnSpc>
                <a:spcPts val="5319"/>
              </a:lnSpc>
            </a:pPr>
            <a:endParaRPr lang="en-US" sz="3799">
              <a:solidFill>
                <a:srgbClr val="57B6B2"/>
              </a:solidFill>
              <a:latin typeface="Myriad Pro 1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99562" y="1396198"/>
            <a:ext cx="10058400" cy="1078611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699562" y="1396198"/>
            <a:ext cx="9601200" cy="1078611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4000" dirty="0">
                <a:solidFill>
                  <a:srgbClr val="FFFFFF"/>
                </a:solidFill>
                <a:latin typeface="Myriad Pro 2"/>
              </a:rPr>
              <a:t>PROJECTED SOCIAL IMPACT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(2 minutes)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41861" y="2747025"/>
            <a:ext cx="5381753" cy="5372634"/>
            <a:chOff x="0" y="0"/>
            <a:chExt cx="812800" cy="81142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1423"/>
            </a:xfrm>
            <a:custGeom>
              <a:avLst/>
              <a:gdLst/>
              <a:ahLst/>
              <a:cxnLst/>
              <a:rect l="l" t="t" r="r" b="b"/>
              <a:pathLst>
                <a:path w="812800" h="811423">
                  <a:moveTo>
                    <a:pt x="0" y="0"/>
                  </a:moveTo>
                  <a:lnTo>
                    <a:pt x="812800" y="0"/>
                  </a:lnTo>
                  <a:lnTo>
                    <a:pt x="812800" y="811423"/>
                  </a:lnTo>
                  <a:lnTo>
                    <a:pt x="0" y="811423"/>
                  </a:lnTo>
                  <a:close/>
                </a:path>
              </a:pathLst>
            </a:custGeom>
            <a:blipFill>
              <a:blip r:embed="rId3"/>
              <a:stretch>
                <a:fillRect l="-38738" r="-38738"/>
              </a:stretch>
            </a:blipFill>
          </p:spPr>
          <p:txBody>
            <a:bodyPr/>
            <a:lstStyle/>
            <a:p>
              <a:endParaRPr lang="en-HN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  <p:grpSp>
        <p:nvGrpSpPr>
          <p:cNvPr id="3" name="Group 3"/>
          <p:cNvGrpSpPr/>
          <p:nvPr/>
        </p:nvGrpSpPr>
        <p:grpSpPr>
          <a:xfrm>
            <a:off x="541861" y="1424574"/>
            <a:ext cx="4555138" cy="733863"/>
            <a:chOff x="0" y="0"/>
            <a:chExt cx="1199707" cy="1932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99707" cy="193281"/>
            </a:xfrm>
            <a:custGeom>
              <a:avLst/>
              <a:gdLst/>
              <a:ahLst/>
              <a:cxnLst/>
              <a:rect l="l" t="t" r="r" b="b"/>
              <a:pathLst>
                <a:path w="1199707" h="193281">
                  <a:moveTo>
                    <a:pt x="0" y="0"/>
                  </a:moveTo>
                  <a:lnTo>
                    <a:pt x="1199707" y="0"/>
                  </a:lnTo>
                  <a:lnTo>
                    <a:pt x="1199707" y="193281"/>
                  </a:lnTo>
                  <a:lnTo>
                    <a:pt x="0" y="193281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199707" cy="1932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52" name="Rectangle 51"/>
          <p:cNvSpPr/>
          <p:nvPr/>
        </p:nvSpPr>
        <p:spPr>
          <a:xfrm>
            <a:off x="709202" y="1361085"/>
            <a:ext cx="10058400" cy="1078611"/>
          </a:xfrm>
          <a:prstGeom prst="rect">
            <a:avLst/>
          </a:prstGeom>
          <a:solidFill>
            <a:srgbClr val="57B6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6"/>
          <p:cNvSpPr txBox="1"/>
          <p:nvPr/>
        </p:nvSpPr>
        <p:spPr>
          <a:xfrm>
            <a:off x="709202" y="1361085"/>
            <a:ext cx="9601200" cy="1078611"/>
          </a:xfrm>
          <a:prstGeom prst="rect">
            <a:avLst/>
          </a:prstGeom>
        </p:spPr>
        <p:txBody>
          <a:bodyPr lIns="0" tIns="0" rIns="0" bIns="0" rtlCol="0" anchor="t" wrap="square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4000" dirty="0">
                <a:solidFill>
                  <a:srgbClr val="FFFFFF"/>
                </a:solidFill>
                <a:latin typeface="Myriad Pro 2"/>
              </a:rPr>
              <a:t>RISK ASSESSMENT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541861" y="3065477"/>
            <a:ext cx="7646249" cy="1360023"/>
            <a:chOff x="0" y="0"/>
            <a:chExt cx="10194998" cy="1813364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0194998" cy="1813364"/>
              <a:chOff x="0" y="0"/>
              <a:chExt cx="2013827" cy="35819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013827" cy="358195"/>
              </a:xfrm>
              <a:custGeom>
                <a:avLst/>
                <a:gdLst/>
                <a:ahLst/>
                <a:cxnLst/>
                <a:rect l="l" t="t" r="r" b="b"/>
                <a:pathLst>
                  <a:path w="2013827" h="358195">
                    <a:moveTo>
                      <a:pt x="0" y="0"/>
                    </a:moveTo>
                    <a:lnTo>
                      <a:pt x="2013827" y="0"/>
                    </a:lnTo>
                    <a:lnTo>
                      <a:pt x="2013827" y="358195"/>
                    </a:lnTo>
                    <a:lnTo>
                      <a:pt x="0" y="358195"/>
                    </a:lnTo>
                    <a:close/>
                  </a:path>
                </a:pathLst>
              </a:custGeom>
              <a:solidFill>
                <a:srgbClr val="57B6B2"/>
              </a:solidFill>
            </p:spPr>
            <p:txBody>
              <a:bodyPr/>
              <a:lstStyle/>
              <a:p>
                <a:endParaRPr lang="en-HN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0"/>
                <a:ext cx="2013827" cy="35819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60"/>
                  </a:lnSpc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45476" y="217707"/>
              <a:ext cx="1451293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15000"/>
                </a:lnSpc>
                <a:spcBef>
                  <a:spcPct val="0"/>
                </a:spcBef>
              </a:pPr>
              <a:r>
                <a:rPr lang="en-US" sz="2200">
                  <a:solidFill>
                    <a:srgbClr val="FFFFFF"/>
                  </a:solidFill>
                  <a:latin typeface="Myriad Pro 2"/>
                </a:rPr>
                <a:t>RISK #1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5476" y="1342927"/>
              <a:ext cx="9663058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ct val="115000"/>
                </a:lnSpc>
                <a:spcBef>
                  <a:spcPct val="0"/>
                </a:spcBef>
              </a:pPr>
              <a:r>
                <a:rPr lang="en-US" sz="1800">
                  <a:solidFill>
                    <a:srgbClr val="FFFFFF"/>
                  </a:solidFill>
                  <a:latin typeface="Myriad Pro 1"/>
                </a:rPr>
                <a:t>CREDIT — repayment delays or default.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41861" y="4663507"/>
            <a:ext cx="7646249" cy="1360023"/>
            <a:chOff x="0" y="0"/>
            <a:chExt cx="10194998" cy="1813364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0194998" cy="1813364"/>
              <a:chOff x="0" y="0"/>
              <a:chExt cx="2013827" cy="358195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013827" cy="358195"/>
              </a:xfrm>
              <a:custGeom>
                <a:avLst/>
                <a:gdLst/>
                <a:ahLst/>
                <a:cxnLst/>
                <a:rect l="l" t="t" r="r" b="b"/>
                <a:pathLst>
                  <a:path w="2013827" h="358195">
                    <a:moveTo>
                      <a:pt x="0" y="0"/>
                    </a:moveTo>
                    <a:lnTo>
                      <a:pt x="2013827" y="0"/>
                    </a:lnTo>
                    <a:lnTo>
                      <a:pt x="2013827" y="358195"/>
                    </a:lnTo>
                    <a:lnTo>
                      <a:pt x="0" y="358195"/>
                    </a:lnTo>
                    <a:close/>
                  </a:path>
                </a:pathLst>
              </a:custGeom>
              <a:solidFill>
                <a:srgbClr val="57B6B2"/>
              </a:solidFill>
            </p:spPr>
            <p:txBody>
              <a:bodyPr/>
              <a:lstStyle/>
              <a:p>
                <a:endParaRPr lang="en-HN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013827" cy="35819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60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245476" y="217707"/>
              <a:ext cx="1451293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15000"/>
                </a:lnSpc>
                <a:spcBef>
                  <a:spcPct val="0"/>
                </a:spcBef>
              </a:pPr>
              <a:r>
                <a:rPr lang="en-US" sz="2200">
                  <a:solidFill>
                    <a:srgbClr val="FFFFFF"/>
                  </a:solidFill>
                  <a:latin typeface="Myriad Pro 2"/>
                </a:rPr>
                <a:t>RISK #2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5476" y="1342927"/>
              <a:ext cx="9663058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ct val="115000"/>
                </a:lnSpc>
                <a:spcBef>
                  <a:spcPct val="0"/>
                </a:spcBef>
              </a:pPr>
              <a:r>
                <a:rPr lang="en-US" sz="1800">
                  <a:solidFill>
                    <a:srgbClr val="FFFFFF"/>
                  </a:solidFill>
                  <a:latin typeface="Myriad Pro 1"/>
                </a:rPr>
                <a:t>LIQUIDITY — insufficient funds or delayed partner funding.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41861" y="6280892"/>
            <a:ext cx="7646249" cy="1360023"/>
            <a:chOff x="0" y="0"/>
            <a:chExt cx="10194998" cy="1813364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0"/>
              <a:ext cx="10194998" cy="1813364"/>
              <a:chOff x="0" y="0"/>
              <a:chExt cx="2013827" cy="35819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2013827" cy="358195"/>
              </a:xfrm>
              <a:custGeom>
                <a:avLst/>
                <a:gdLst/>
                <a:ahLst/>
                <a:cxnLst/>
                <a:rect l="l" t="t" r="r" b="b"/>
                <a:pathLst>
                  <a:path w="2013827" h="358195">
                    <a:moveTo>
                      <a:pt x="0" y="0"/>
                    </a:moveTo>
                    <a:lnTo>
                      <a:pt x="2013827" y="0"/>
                    </a:lnTo>
                    <a:lnTo>
                      <a:pt x="2013827" y="358195"/>
                    </a:lnTo>
                    <a:lnTo>
                      <a:pt x="0" y="358195"/>
                    </a:lnTo>
                    <a:close/>
                  </a:path>
                </a:pathLst>
              </a:custGeom>
              <a:solidFill>
                <a:srgbClr val="57B6B2"/>
              </a:solidFill>
            </p:spPr>
            <p:txBody>
              <a:bodyPr/>
              <a:lstStyle/>
              <a:p>
                <a:endParaRPr lang="en-HN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0"/>
                <a:ext cx="2013827" cy="35819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60"/>
                  </a:lnSpc>
                </a:pPr>
                <a:endParaRPr/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245476" y="217707"/>
              <a:ext cx="1451293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15000"/>
                </a:lnSpc>
                <a:spcBef>
                  <a:spcPct val="0"/>
                </a:spcBef>
              </a:pPr>
              <a:r>
                <a:rPr lang="en-US" sz="2200">
                  <a:solidFill>
                    <a:srgbClr val="FFFFFF"/>
                  </a:solidFill>
                  <a:latin typeface="Myriad Pro 2"/>
                </a:rPr>
                <a:t>RISK #3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45476" y="1342927"/>
              <a:ext cx="9663058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ct val="115000"/>
                </a:lnSpc>
                <a:spcBef>
                  <a:spcPct val="0"/>
                </a:spcBef>
              </a:pPr>
              <a:r>
                <a:rPr lang="en-US" sz="1800">
                  <a:solidFill>
                    <a:srgbClr val="FFFFFF"/>
                  </a:solidFill>
                  <a:latin typeface="Myriad Pro 1"/>
                </a:rPr>
                <a:t>MARKET &amp; CURRENCY — inflation, naira swings (both ways).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41861" y="7898277"/>
            <a:ext cx="7646249" cy="1360023"/>
            <a:chOff x="0" y="0"/>
            <a:chExt cx="10194998" cy="1813364"/>
          </a:xfrm>
        </p:grpSpPr>
        <p:grpSp>
          <p:nvGrpSpPr>
            <p:cNvPr id="26" name="Group 26"/>
            <p:cNvGrpSpPr/>
            <p:nvPr/>
          </p:nvGrpSpPr>
          <p:grpSpPr>
            <a:xfrm>
              <a:off x="0" y="0"/>
              <a:ext cx="10194998" cy="1813364"/>
              <a:chOff x="0" y="0"/>
              <a:chExt cx="2013827" cy="35819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2013827" cy="358195"/>
              </a:xfrm>
              <a:custGeom>
                <a:avLst/>
                <a:gdLst/>
                <a:ahLst/>
                <a:cxnLst/>
                <a:rect l="l" t="t" r="r" b="b"/>
                <a:pathLst>
                  <a:path w="2013827" h="358195">
                    <a:moveTo>
                      <a:pt x="0" y="0"/>
                    </a:moveTo>
                    <a:lnTo>
                      <a:pt x="2013827" y="0"/>
                    </a:lnTo>
                    <a:lnTo>
                      <a:pt x="2013827" y="358195"/>
                    </a:lnTo>
                    <a:lnTo>
                      <a:pt x="0" y="358195"/>
                    </a:lnTo>
                    <a:close/>
                  </a:path>
                </a:pathLst>
              </a:custGeom>
              <a:solidFill>
                <a:srgbClr val="57B6B2"/>
              </a:solidFill>
            </p:spPr>
            <p:txBody>
              <a:bodyPr/>
              <a:lstStyle/>
              <a:p>
                <a:endParaRPr lang="en-HN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0"/>
                <a:ext cx="2013827" cy="35819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60"/>
                  </a:lnSpc>
                </a:pPr>
                <a:endParaRPr/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245476" y="217707"/>
              <a:ext cx="1451293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15000"/>
                </a:lnSpc>
                <a:spcBef>
                  <a:spcPct val="0"/>
                </a:spcBef>
              </a:pPr>
              <a:r>
                <a:rPr lang="en-US" sz="2200">
                  <a:solidFill>
                    <a:srgbClr val="FFFFFF"/>
                  </a:solidFill>
                  <a:latin typeface="Myriad Pro 2"/>
                </a:rPr>
                <a:t>RISK #4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5476" y="1342927"/>
              <a:ext cx="9663058" cy="688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ct val="115000"/>
                </a:lnSpc>
                <a:spcBef>
                  <a:spcPct val="0"/>
                </a:spcBef>
              </a:pPr>
              <a:r>
                <a:rPr lang="en-US" sz="1800">
                  <a:solidFill>
                    <a:srgbClr val="FFFFFF"/>
                  </a:solidFill>
                  <a:latin typeface="Myriad Pro 1"/>
                </a:rPr>
                <a:t>OPERATIONAL &amp; COMPLIANCE — internal controls or fraud.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13051" y="3065477"/>
            <a:ext cx="7646249" cy="1360023"/>
            <a:chOff x="0" y="0"/>
            <a:chExt cx="2013827" cy="358195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013827" cy="358195"/>
            </a:xfrm>
            <a:custGeom>
              <a:avLst/>
              <a:gdLst/>
              <a:ahLst/>
              <a:cxnLst/>
              <a:rect l="l" t="t" r="r" b="b"/>
              <a:pathLst>
                <a:path w="2013827" h="358195">
                  <a:moveTo>
                    <a:pt x="0" y="0"/>
                  </a:moveTo>
                  <a:lnTo>
                    <a:pt x="2013827" y="0"/>
                  </a:lnTo>
                  <a:lnTo>
                    <a:pt x="2013827" y="358195"/>
                  </a:lnTo>
                  <a:lnTo>
                    <a:pt x="0" y="358195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0"/>
              <a:ext cx="2013827" cy="358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9797158" y="3212088"/>
            <a:ext cx="2711206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Bef>
                <a:spcPct val="0"/>
              </a:spcBef>
            </a:pPr>
            <a:r>
              <a:rPr lang="en-US" sz="2200">
                <a:solidFill>
                  <a:srgbClr val="FFFFFF"/>
                </a:solidFill>
                <a:latin typeface="Myriad Pro 2"/>
              </a:rPr>
              <a:t>RISK MITIGATION #1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797158" y="3998853"/>
            <a:ext cx="3115743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Myriad Pro 1"/>
              </a:rPr>
              <a:t>Appraisal &amp; guarantees.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613051" y="4663507"/>
            <a:ext cx="7646249" cy="1360023"/>
            <a:chOff x="0" y="0"/>
            <a:chExt cx="2013827" cy="358195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013827" cy="358195"/>
            </a:xfrm>
            <a:custGeom>
              <a:avLst/>
              <a:gdLst/>
              <a:ahLst/>
              <a:cxnLst/>
              <a:rect l="l" t="t" r="r" b="b"/>
              <a:pathLst>
                <a:path w="2013827" h="358195">
                  <a:moveTo>
                    <a:pt x="0" y="0"/>
                  </a:moveTo>
                  <a:lnTo>
                    <a:pt x="2013827" y="0"/>
                  </a:lnTo>
                  <a:lnTo>
                    <a:pt x="2013827" y="358195"/>
                  </a:lnTo>
                  <a:lnTo>
                    <a:pt x="0" y="358195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0"/>
              <a:ext cx="2013827" cy="358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797158" y="4810118"/>
            <a:ext cx="2711206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Bef>
                <a:spcPct val="0"/>
              </a:spcBef>
            </a:pPr>
            <a:r>
              <a:rPr lang="en-US" sz="2200">
                <a:solidFill>
                  <a:srgbClr val="FFFFFF"/>
                </a:solidFill>
                <a:latin typeface="Myriad Pro 2"/>
              </a:rPr>
              <a:t>RISK MITIGATION #2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797158" y="5596883"/>
            <a:ext cx="7247293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Myriad Pro 1"/>
              </a:rPr>
              <a:t>Cash-flow monitoring, diversified funding, liquidity reserves.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9613051" y="6280892"/>
            <a:ext cx="7646249" cy="1360023"/>
            <a:chOff x="0" y="0"/>
            <a:chExt cx="2013827" cy="358195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013827" cy="358195"/>
            </a:xfrm>
            <a:custGeom>
              <a:avLst/>
              <a:gdLst/>
              <a:ahLst/>
              <a:cxnLst/>
              <a:rect l="l" t="t" r="r" b="b"/>
              <a:pathLst>
                <a:path w="2013827" h="358195">
                  <a:moveTo>
                    <a:pt x="0" y="0"/>
                  </a:moveTo>
                  <a:lnTo>
                    <a:pt x="2013827" y="0"/>
                  </a:lnTo>
                  <a:lnTo>
                    <a:pt x="2013827" y="358195"/>
                  </a:lnTo>
                  <a:lnTo>
                    <a:pt x="0" y="358195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0"/>
              <a:ext cx="2013827" cy="358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9797158" y="6427503"/>
            <a:ext cx="2711206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Bef>
                <a:spcPct val="0"/>
              </a:spcBef>
            </a:pPr>
            <a:r>
              <a:rPr lang="en-US" sz="2200">
                <a:solidFill>
                  <a:srgbClr val="FFFFFF"/>
                </a:solidFill>
                <a:latin typeface="Myriad Pro 2"/>
              </a:rPr>
              <a:t>RISK MITIGATION #3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797158" y="7214268"/>
            <a:ext cx="7247293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Myriad Pro 1"/>
              </a:rPr>
              <a:t>Market monitoring, flexible products, digital-channel improvement.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613051" y="7898277"/>
            <a:ext cx="7646249" cy="1360023"/>
            <a:chOff x="0" y="0"/>
            <a:chExt cx="2013827" cy="358195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013827" cy="358195"/>
            </a:xfrm>
            <a:custGeom>
              <a:avLst/>
              <a:gdLst/>
              <a:ahLst/>
              <a:cxnLst/>
              <a:rect l="l" t="t" r="r" b="b"/>
              <a:pathLst>
                <a:path w="2013827" h="358195">
                  <a:moveTo>
                    <a:pt x="0" y="0"/>
                  </a:moveTo>
                  <a:lnTo>
                    <a:pt x="2013827" y="0"/>
                  </a:lnTo>
                  <a:lnTo>
                    <a:pt x="2013827" y="358195"/>
                  </a:lnTo>
                  <a:lnTo>
                    <a:pt x="0" y="358195"/>
                  </a:lnTo>
                  <a:close/>
                </a:path>
              </a:pathLst>
            </a:custGeom>
            <a:solidFill>
              <a:srgbClr val="57B6B2"/>
            </a:solidFill>
          </p:spPr>
          <p:txBody>
            <a:bodyPr/>
            <a:lstStyle/>
            <a:p>
              <a:endParaRPr lang="en-HN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0"/>
              <a:ext cx="2013827" cy="358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797158" y="8044889"/>
            <a:ext cx="2711206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Bef>
                <a:spcPct val="0"/>
              </a:spcBef>
            </a:pPr>
            <a:r>
              <a:rPr lang="en-US" sz="2200">
                <a:solidFill>
                  <a:srgbClr val="FFFFFF"/>
                </a:solidFill>
                <a:latin typeface="Myriad Pro 2"/>
              </a:rPr>
              <a:t>RISK MITIGATION #4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797158" y="8831654"/>
            <a:ext cx="7247293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1500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Myriad Pro 1"/>
              </a:rPr>
              <a:t>Segregation of duties, internal controls, periodic audits.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3283847" y="130416"/>
            <a:ext cx="4689908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57B6B2"/>
                </a:solidFill>
                <a:latin typeface="Myriad Pro 1"/>
              </a:rPr>
              <a:t>Time allocated: (2 minutes)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7B6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50110" y="4291012"/>
            <a:ext cx="8187779" cy="1533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99"/>
              </a:lnSpc>
              <a:spcBef>
                <a:spcPct val="0"/>
              </a:spcBef>
            </a:pPr>
            <a:r>
              <a:rPr lang="en-US" sz="8999">
                <a:solidFill>
                  <a:srgbClr val="FFFFFF"/>
                </a:solidFill>
                <a:latin typeface="Myriad Pro 2"/>
              </a:rPr>
              <a:t>Questions &amp; Answers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237890" y="130416"/>
            <a:ext cx="4735865" cy="722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6" lvl="1" indent="-410208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FFFFFF"/>
                </a:solidFill>
                <a:latin typeface="Myriad Pro 1"/>
              </a:rPr>
              <a:t>Time allocated: (5 minutes)</a:t>
            </a:r>
          </a:p>
        </p:txBody>
      </p:sp>
      <p:sp>
        <p:nvSpPr>
          <p:cNvPr id="4" name="Freeform 4"/>
          <p:cNvSpPr/>
          <p:nvPr/>
        </p:nvSpPr>
        <p:spPr>
          <a:xfrm>
            <a:off x="164580" y="211893"/>
            <a:ext cx="3694736" cy="712076"/>
          </a:xfrm>
          <a:custGeom>
            <a:avLst/>
            <a:gdLst/>
            <a:ahLst/>
            <a:cxnLst/>
            <a:rect l="l" t="t" r="r" b="b"/>
            <a:pathLst>
              <a:path w="3694736" h="712076">
                <a:moveTo>
                  <a:pt x="0" y="0"/>
                </a:moveTo>
                <a:lnTo>
                  <a:pt x="3694736" y="0"/>
                </a:lnTo>
                <a:lnTo>
                  <a:pt x="3694736" y="712077"/>
                </a:lnTo>
                <a:lnTo>
                  <a:pt x="0" y="7120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7B6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610023" y="3342442"/>
            <a:ext cx="11067954" cy="3602116"/>
          </a:xfrm>
          <a:custGeom>
            <a:avLst/>
            <a:gdLst/>
            <a:ahLst/>
            <a:cxnLst/>
            <a:rect l="l" t="t" r="r" b="b"/>
            <a:pathLst>
              <a:path w="11067954" h="3602116">
                <a:moveTo>
                  <a:pt x="0" y="0"/>
                </a:moveTo>
                <a:lnTo>
                  <a:pt x="11067954" y="0"/>
                </a:lnTo>
                <a:lnTo>
                  <a:pt x="11067954" y="3602116"/>
                </a:lnTo>
                <a:lnTo>
                  <a:pt x="0" y="36021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H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554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0A61E"/>
                </a:solidFill>
                <a:latin typeface="Myriad Pro 2"/>
              </a:rPr>
              <a:t>07A — WHAT THE BOOK IS BUILT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77240"/>
            <a:ext cx="1554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B3B3E"/>
                </a:solidFill>
                <a:latin typeface="Myriad Pro 2"/>
              </a:rPr>
              <a:t>Five Credit Products, One Growth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00200"/>
            <a:ext cx="1600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1">
                <a:solidFill>
                  <a:srgbClr val="555555"/>
                </a:solidFill>
                <a:latin typeface="Myriad Pro 1"/>
              </a:rPr>
              <a:t>Each product is sized to a different income pattern, not just a different loan size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148840"/>
            <a:ext cx="1463040" cy="38100"/>
          </a:xfrm>
          <a:prstGeom prst="rect">
            <a:avLst/>
          </a:prstGeom>
          <a:solidFill>
            <a:srgbClr val="F0A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651760"/>
          <a:ext cx="16459200" cy="44348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57600"/>
                <a:gridCol w="5120640"/>
                <a:gridCol w="2377440"/>
                <a:gridCol w="2651760"/>
                <a:gridCol w="26517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Myriad Pro 1"/>
                        </a:rPr>
                        <a:t>Product</a:t>
                      </a:r>
                    </a:p>
                  </a:txBody>
                  <a:tcPr marL="91440" marR="91440" marT="36576" marB="36576" anchor="ctr">
                    <a:solidFill>
                      <a:srgbClr val="0B3B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Myriad Pro 1"/>
                        </a:rPr>
                        <a:t>Who it serves</a:t>
                      </a:r>
                    </a:p>
                  </a:txBody>
                  <a:tcPr marL="91440" marR="91440" marT="36576" marB="36576" anchor="ctr">
                    <a:solidFill>
                      <a:srgbClr val="0B3B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Myriad Pro 1"/>
                        </a:rPr>
                        <a:t>Range (USD)</a:t>
                      </a:r>
                    </a:p>
                  </a:txBody>
                  <a:tcPr marL="91440" marR="91440" marT="36576" marB="36576" anchor="ctr">
                    <a:solidFill>
                      <a:srgbClr val="0B3B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Myriad Pro 1"/>
                        </a:rPr>
                        <a:t>Range (₦)</a:t>
                      </a:r>
                    </a:p>
                  </a:txBody>
                  <a:tcPr marL="91440" marR="91440" marT="36576" marB="36576" anchor="ctr">
                    <a:solidFill>
                      <a:srgbClr val="0B3B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Myriad Pro 1"/>
                        </a:rPr>
                        <a:t>Term &amp; collection</a:t>
                      </a:r>
                    </a:p>
                  </a:txBody>
                  <a:tcPr marL="91440" marR="91440" marT="36576" marB="36576" anchor="ctr">
                    <a:solidFill>
                      <a:srgbClr val="0B3B3E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MiniMonie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Daily income traders, contribution-based businesses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$22–$75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₦30,000–100,000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2 months, daily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PeakLite / MicroGroup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Group-based microcredit, shared repayment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$112–$149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₦150,000–200,000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5 months, daily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Sabi Trader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Established retailers beyond group limits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$149–$373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₦200,000–499,999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5–6 months, monthly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SME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Eligible small &amp; medium businesses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$149–$373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₦200,000–499,999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5–6 months, monthly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BetaBiz / Working Capital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Business expenses, stock, cash flow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$373+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₦500,000+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Myriad Pro 1"/>
                        </a:rPr>
                        <a:t>5–6 months, monthly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7589520"/>
            <a:ext cx="3749040" cy="155448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7699248"/>
            <a:ext cx="3474720" cy="8549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Myriad Pro 1"/>
              </a:rPr>
              <a:t>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8491118"/>
            <a:ext cx="3474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Interest rate, all products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45152" y="7589520"/>
            <a:ext cx="3749040" cy="155448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2312" y="7699248"/>
            <a:ext cx="3474720" cy="8549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Myriad Pro 1"/>
              </a:rPr>
              <a:t>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8491118"/>
            <a:ext cx="3474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Equity contribution required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77072" y="7589520"/>
            <a:ext cx="3749040" cy="155448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7699248"/>
            <a:ext cx="3474720" cy="8549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Myriad Pro 1"/>
              </a:rPr>
              <a:t>5.5%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14232" y="8491118"/>
            <a:ext cx="3474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Management fee &amp; insurance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508992" y="7589520"/>
            <a:ext cx="3749040" cy="155448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46152" y="7699248"/>
            <a:ext cx="3474720" cy="8549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Myriad Pro 1"/>
              </a:rPr>
              <a:t>17%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46152" y="8491118"/>
            <a:ext cx="34747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Savings rate, p.a.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9372600"/>
            <a:ext cx="1645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555555"/>
                </a:solidFill>
                <a:latin typeface="Myriad Pro 1"/>
              </a:rPr>
              <a:t>Plus: financial literacy, digital payments, agency banking, and micro-health insurance &amp; renewable-energy financing through partnerships.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86232" y="128016"/>
            <a:ext cx="4690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57B6B2"/>
                </a:solidFill>
                <a:latin typeface="Myriad Pro 1"/>
              </a:rPr>
              <a:t>• Time allocated: (2 minutes)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554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0A61E"/>
                </a:solidFill>
                <a:latin typeface="Myriad Pro 2"/>
              </a:rPr>
              <a:t>07B — WHO RUNS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77240"/>
            <a:ext cx="1554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B3B3E"/>
                </a:solidFill>
                <a:latin typeface="Myriad Pro 2"/>
              </a:rPr>
              <a:t>Governance &amp;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600200"/>
            <a:ext cx="1463040" cy="38100"/>
          </a:xfrm>
          <a:prstGeom prst="rect">
            <a:avLst/>
          </a:prstGeom>
          <a:solidFill>
            <a:srgbClr val="F0A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0B3B3E"/>
                </a:solidFill>
                <a:latin typeface="Myriad Pro 2"/>
              </a:rPr>
              <a:t>BOARD OF TRUSTEES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935224"/>
            <a:ext cx="128016" cy="128016"/>
          </a:xfrm>
          <a:prstGeom prst="rect">
            <a:avLst/>
          </a:prstGeom>
          <a:solidFill>
            <a:srgbClr val="F0A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Danjuma Usman (CPA)  </a:t>
            </a:r>
            <a:r>
              <a:rPr sz="1600" b="0" i="0">
                <a:solidFill>
                  <a:srgbClr val="555555"/>
                </a:solidFill>
                <a:latin typeface="Myriad Pro 1"/>
              </a:rPr>
              <a:t>Chairman — accounting &amp; finance background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392424"/>
            <a:ext cx="128016" cy="128016"/>
          </a:xfrm>
          <a:prstGeom prst="rect">
            <a:avLst/>
          </a:prstGeom>
          <a:solidFill>
            <a:srgbClr val="F0A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Joe Onyeabor  </a:t>
            </a:r>
            <a:r>
              <a:rPr sz="1600" b="0" i="0">
                <a:solidFill>
                  <a:srgbClr val="555555"/>
                </a:solidFill>
                <a:latin typeface="Myriad Pro 1"/>
              </a:rPr>
              <a:t>Chief Executive Officer, Board Member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3849624"/>
            <a:ext cx="128016" cy="128016"/>
          </a:xfrm>
          <a:prstGeom prst="rect">
            <a:avLst/>
          </a:prstGeom>
          <a:solidFill>
            <a:srgbClr val="F0A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9476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Abiodun Yusuph  </a:t>
            </a:r>
            <a:r>
              <a:rPr sz="1600" b="0" i="0">
                <a:solidFill>
                  <a:srgbClr val="555555"/>
                </a:solidFill>
                <a:latin typeface="Myriad Pro 1"/>
              </a:rPr>
              <a:t>Executive Director, Board Member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306824"/>
            <a:ext cx="128016" cy="128016"/>
          </a:xfrm>
          <a:prstGeom prst="rect">
            <a:avLst/>
          </a:prstGeom>
          <a:solidFill>
            <a:srgbClr val="F0A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25196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Sotonye Wakama  </a:t>
            </a:r>
            <a:r>
              <a:rPr sz="1600" b="0" i="0">
                <a:solidFill>
                  <a:srgbClr val="555555"/>
                </a:solidFill>
                <a:latin typeface="Myriad Pro 1"/>
              </a:rPr>
              <a:t>Board Member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764024"/>
            <a:ext cx="128016" cy="128016"/>
          </a:xfrm>
          <a:prstGeom prst="rect">
            <a:avLst/>
          </a:prstGeom>
          <a:solidFill>
            <a:srgbClr val="F0A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70916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Ochoche Owoicho  </a:t>
            </a:r>
            <a:r>
              <a:rPr sz="1600" b="0" i="0">
                <a:solidFill>
                  <a:srgbClr val="555555"/>
                </a:solidFill>
                <a:latin typeface="Myriad Pro 1"/>
              </a:rPr>
              <a:t>Board Member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303520"/>
            <a:ext cx="7863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3B3E"/>
                </a:solidFill>
                <a:latin typeface="Myriad Pro 1"/>
              </a:rPr>
              <a:t>Governance in practice: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222"/>
                </a:solidFill>
                <a:latin typeface="Myriad Pro 1"/>
              </a:rPr>
              <a:t>• Standing committees with written charters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222"/>
                </a:solidFill>
                <a:latin typeface="Myriad Pro 1"/>
              </a:rPr>
              <a:t>• Finance &amp; General-Purpose Committee runs an annual Board/committee/trustee evaluation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222"/>
                </a:solidFill>
                <a:latin typeface="Myriad Pro 1"/>
              </a:rPr>
              <a:t>• Whistle-blowing policy (hotline, email, web channels)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222"/>
                </a:solidFill>
                <a:latin typeface="Myriad Pro 1"/>
              </a:rPr>
              <a:t>• Board ethics policy on a 3-year review cycle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22222"/>
                </a:solidFill>
                <a:latin typeface="Myriad Pro 1"/>
              </a:rPr>
              <a:t>• Board met 5 times in 2025 — full attendance, no membership changes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33172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0B3B3E"/>
                </a:solidFill>
                <a:latin typeface="Myriad Pro 2"/>
              </a:rPr>
              <a:t>OPERATIONAL MANAGEMENT TEAM (70+ STAFF)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7863840" cy="1051560"/>
          </a:xfrm>
          <a:prstGeom prst="rect">
            <a:avLst/>
          </a:prstGeom>
          <a:solidFill>
            <a:srgbClr val="F5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29718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Atsu Cornelius Apuye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383280"/>
            <a:ext cx="74980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555555"/>
                </a:solidFill>
                <a:latin typeface="Myriad Pro 1"/>
              </a:rPr>
              <a:t>Head, Micro-Credit, Retail Business &amp; Field Operations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4069080"/>
            <a:ext cx="7863840" cy="1051560"/>
          </a:xfrm>
          <a:prstGeom prst="rect">
            <a:avLst/>
          </a:prstGeom>
          <a:solidFill>
            <a:srgbClr val="F5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416052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Adaorah Blessing Oforkansi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4572000"/>
            <a:ext cx="74980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555555"/>
                </a:solidFill>
                <a:latin typeface="Myriad Pro 1"/>
              </a:rPr>
              <a:t>Head, Human Capital Management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5257800"/>
            <a:ext cx="7863840" cy="1051560"/>
          </a:xfrm>
          <a:prstGeom prst="rect">
            <a:avLst/>
          </a:prstGeom>
          <a:solidFill>
            <a:srgbClr val="F5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534924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Nafisat Usman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5760720"/>
            <a:ext cx="74980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555555"/>
                </a:solidFill>
                <a:latin typeface="Myriad Pro 1"/>
              </a:rPr>
              <a:t>Head, Branch Operations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46520"/>
            <a:ext cx="7863840" cy="1051560"/>
          </a:xfrm>
          <a:prstGeom prst="rect">
            <a:avLst/>
          </a:prstGeom>
          <a:solidFill>
            <a:srgbClr val="F5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0" y="653796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Uwaezuoke Ifeyinwa Augusta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6949440"/>
            <a:ext cx="74980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555555"/>
                </a:solidFill>
                <a:latin typeface="Myriad Pro 1"/>
              </a:rPr>
              <a:t>Head, Operations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35440" y="7635240"/>
            <a:ext cx="7863840" cy="1051560"/>
          </a:xfrm>
          <a:prstGeom prst="rect">
            <a:avLst/>
          </a:prstGeom>
          <a:solidFill>
            <a:srgbClr val="F5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772668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Franklin Victoria Enewa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8138160"/>
            <a:ext cx="74980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555555"/>
                </a:solidFill>
                <a:latin typeface="Myriad Pro 1"/>
              </a:rPr>
              <a:t>Development Partnership Engagement Officer &amp; Project Manager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35440" y="8823960"/>
            <a:ext cx="7863840" cy="1051560"/>
          </a:xfrm>
          <a:prstGeom prst="rect">
            <a:avLst/>
          </a:prstGeom>
          <a:solidFill>
            <a:srgbClr val="F5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89154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Offem Happiness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9326880"/>
            <a:ext cx="74980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555555"/>
                </a:solidFill>
                <a:latin typeface="Myriad Pro 1"/>
              </a:rPr>
              <a:t>Head, Customer Service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86232" y="128016"/>
            <a:ext cx="4690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57B6B2"/>
                </a:solidFill>
                <a:latin typeface="Myriad Pro 1"/>
              </a:rPr>
              <a:t>• Time allocated: (2 minutes)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554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0A61E"/>
                </a:solidFill>
                <a:latin typeface="Myriad Pro 2"/>
              </a:rPr>
              <a:t>08A — BY THE NUMBERS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77240"/>
            <a:ext cx="1554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Myriad Pro 2"/>
              </a:rPr>
              <a:t>Growth, FY2025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00200"/>
            <a:ext cx="1600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1">
                <a:solidFill>
                  <a:srgbClr val="BFE3DF"/>
                </a:solidFill>
                <a:latin typeface="Myriad Pro 1"/>
              </a:rPr>
              <a:t>Projected beneficiary mix and PEAK's audited growth, 2024 →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148840"/>
            <a:ext cx="1463040" cy="38100"/>
          </a:xfrm>
          <a:prstGeom prst="rect">
            <a:avLst/>
          </a:prstGeom>
          <a:solidFill>
            <a:srgbClr val="F0A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914400" y="2651760"/>
          <a:ext cx="6949440" cy="5943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8778240"/>
            <a:ext cx="6949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BFE3DF"/>
                </a:solidFill>
                <a:latin typeface="Myriad Pro 1"/>
              </a:rPr>
              <a:t>Projected beneficiary mix (% of 2,000+ reached)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778240" y="2651760"/>
          <a:ext cx="8229600" cy="5943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778240" y="877824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BFE3DF"/>
                </a:solidFill>
                <a:latin typeface="Myriad Pro 1"/>
              </a:rPr>
              <a:t>Audited financial performance (Ismaheel and Co., FYE 31 Dec 2025): +26% assets, +54% loan book, +72% accumulated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86232" y="128016"/>
            <a:ext cx="4690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BFE3DF"/>
                </a:solidFill>
                <a:latin typeface="Myriad Pro 1"/>
              </a:rPr>
              <a:t>• Time allocated: (2 minutes)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554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0A61E"/>
                </a:solidFill>
                <a:latin typeface="Myriad Pro 2"/>
              </a:rPr>
              <a:t>08B — BY THE NUMBERS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77240"/>
            <a:ext cx="1554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Myriad Pro 2"/>
              </a:rPr>
              <a:t>Why Surplus Fell, Why Leverage Improved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600200"/>
            <a:ext cx="1463040" cy="38100"/>
          </a:xfrm>
          <a:prstGeom prst="rect">
            <a:avLst/>
          </a:prstGeom>
          <a:solidFill>
            <a:srgbClr val="F0A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514600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0A61E"/>
                </a:solidFill>
                <a:latin typeface="Myriad Pro 2"/>
              </a:rPr>
              <a:t>WHY DID SURPLUS FALL 23%?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063240"/>
            <a:ext cx="3657600" cy="1737360"/>
          </a:xfrm>
          <a:prstGeom prst="rect">
            <a:avLst/>
          </a:prstGeom>
          <a:solidFill>
            <a:srgbClr val="144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3172968"/>
            <a:ext cx="3383280" cy="9555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yriad Pro 1"/>
              </a:rPr>
              <a:t>$87,066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070908"/>
            <a:ext cx="338328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Admin expenses, 2025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(+26%, incl. $63,042 in salaries across 70+ staff)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3063240"/>
            <a:ext cx="3657600" cy="1737360"/>
          </a:xfrm>
          <a:prstGeom prst="rect">
            <a:avLst/>
          </a:prstGeom>
          <a:solidFill>
            <a:srgbClr val="144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3172968"/>
            <a:ext cx="3383280" cy="9555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Myriad Pro 1"/>
              </a:rPr>
              <a:t>$5,463 → $(3,327)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0908"/>
            <a:ext cx="338328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FX gain (2024) swung to FX loss (2025)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as the naira strengthened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983480"/>
            <a:ext cx="7589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BFE3DF"/>
                </a:solidFill>
                <a:latin typeface="Myriad Pro 1"/>
              </a:rPr>
              <a:t>Net surplus before FX actually fell a more modest 13% ($79,136 → $68,449) — the headline 23% decline to $65,123 is amplified by currency movement, not just rising costs.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675120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F0A61E"/>
                </a:solidFill>
                <a:latin typeface="Myriad Pro 2"/>
              </a:rPr>
              <a:t>WHY IS THIS FACILITY LESS RISKY THAN IT WOULD HAVE BEEN A YEAR AGO?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7269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FFFFFF"/>
                </a:solidFill>
                <a:latin typeface="Myriad Pro 1"/>
              </a:rPr>
              <a:t>Borrowings fell 5% in naira (₦17,976,879 repaid against PW's on-lending facility, nothing newly drawn) while accumulated funds rose 63% in naira — leverage improved from 2.3x to 1.4x in a single year.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778240" y="2514600"/>
          <a:ext cx="8229600" cy="6400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778240" y="914400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BFE3DF"/>
                </a:solidFill>
                <a:latin typeface="Myriad Pro 1"/>
              </a:rPr>
              <a:t>Leverage (borrowings ÷ accumulated funds) — lower is stronger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86232" y="128016"/>
            <a:ext cx="4690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BFE3DF"/>
                </a:solidFill>
                <a:latin typeface="Myriad Pro 1"/>
              </a:rPr>
              <a:t>• Time allocated: (2 minutes)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554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0A61E"/>
                </a:solidFill>
                <a:latin typeface="Myriad Pro 2"/>
              </a:rPr>
              <a:t>08C — WHAT THE MODEL ASSUMES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77240"/>
            <a:ext cx="1554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B3B3E"/>
                </a:solidFill>
                <a:latin typeface="Myriad Pro 2"/>
              </a:rPr>
              <a:t>Financial Forecast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600200"/>
            <a:ext cx="1463040" cy="38100"/>
          </a:xfrm>
          <a:prstGeom prst="rect">
            <a:avLst/>
          </a:prstGeom>
          <a:solidFill>
            <a:srgbClr val="F0A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651760"/>
            <a:ext cx="3657600" cy="155448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761488"/>
            <a:ext cx="3383280" cy="8549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Myriad Pro 1"/>
              </a:rPr>
              <a:t>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53358"/>
            <a:ext cx="33832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Proposed PW interest 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3712" y="2651760"/>
            <a:ext cx="3657600" cy="155448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2761488"/>
            <a:ext cx="3383280" cy="8549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Myriad Pro 1"/>
              </a:rPr>
              <a:t>4.5%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3553358"/>
            <a:ext cx="33832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Average rate to PEAK borrowers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4389120"/>
            <a:ext cx="3657600" cy="155448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498848"/>
            <a:ext cx="3383280" cy="8549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Myriad Pro 1"/>
              </a:rPr>
              <a:t>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5290718"/>
            <a:ext cx="33832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Loan fee to borrowers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53712" y="4389120"/>
            <a:ext cx="3657600" cy="155448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4498848"/>
            <a:ext cx="3383280" cy="8549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Myriad Pro 1"/>
              </a:rPr>
              <a:t>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5290718"/>
            <a:ext cx="33832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Forecasted loan loss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26364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B3B3E"/>
                </a:solidFill>
                <a:latin typeface="Myriad Pro 2"/>
              </a:rPr>
              <a:t>OTHER ASSUMPTIONS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766560"/>
            <a:ext cx="749807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• Incoming wire fee expense: </a:t>
            </a:r>
            <a:r>
              <a:rPr sz="1600" b="0" i="0">
                <a:solidFill>
                  <a:srgbClr val="222222"/>
                </a:solidFill>
                <a:latin typeface="Myriad Pro 1"/>
              </a:rPr>
              <a:t>0.0001%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• Incremental quarterly increase in loan fund operating expense: </a:t>
            </a:r>
            <a:r>
              <a:rPr sz="1600" b="0" i="0">
                <a:solidFill>
                  <a:srgbClr val="222222"/>
                </a:solidFill>
                <a:latin typeface="Myriad Pro 1"/>
              </a:rPr>
              <a:t>$2,462.25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B3B3E"/>
                </a:solidFill>
                <a:latin typeface="Myriad Pro 1"/>
              </a:rPr>
              <a:t>• Requested loan amount: </a:t>
            </a:r>
            <a:r>
              <a:rPr sz="1600" b="0" i="0">
                <a:solidFill>
                  <a:srgbClr val="222222"/>
                </a:solidFill>
                <a:latin typeface="Myriad Pro 1"/>
              </a:rPr>
              <a:t>$280,000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2651760"/>
            <a:ext cx="6492240" cy="466344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2761488"/>
            <a:ext cx="6217920" cy="256489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Myriad Pro 1"/>
              </a:rPr>
              <a:t>$105,485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5356555"/>
            <a:ext cx="6217920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Forecasted ending fund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7589520"/>
            <a:ext cx="6492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555555"/>
                </a:solidFill>
                <a:latin typeface="Myriad Pro 1"/>
              </a:rPr>
              <a:t>The fund is forecast to grow from the $280,000 facility after interest income, the 3% loan-loss allowance, and rising operating expense are all accounted for.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86232" y="128016"/>
            <a:ext cx="4690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57B6B2"/>
                </a:solidFill>
                <a:latin typeface="Myriad Pro 1"/>
              </a:rPr>
              <a:t>• Time allocated: (1 minute)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554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0A61E"/>
                </a:solidFill>
                <a:latin typeface="Myriad Pro 2"/>
              </a:rPr>
              <a:t>08D — IS THE BOOK ACTUALLY HEALTHY?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77240"/>
            <a:ext cx="1554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Myriad Pro 2"/>
              </a:rPr>
              <a:t>Credit Quality &amp; Portfolio Aging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600200"/>
            <a:ext cx="1463040" cy="38100"/>
          </a:xfrm>
          <a:prstGeom prst="rect">
            <a:avLst/>
          </a:prstGeom>
          <a:solidFill>
            <a:srgbClr val="F0A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651760"/>
            <a:ext cx="3657600" cy="182880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761488"/>
            <a:ext cx="3383280" cy="10058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yriad Pro 1"/>
              </a:rPr>
              <a:t>$187,889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712464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Total outstanding loan portfolio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6280" y="2651760"/>
            <a:ext cx="3657600" cy="1828800"/>
          </a:xfrm>
          <a:prstGeom prst="rect">
            <a:avLst/>
          </a:prstGeom>
          <a:solidFill>
            <a:srgbClr val="0B3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761488"/>
            <a:ext cx="3383280" cy="10058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Myriad Pro 1"/>
              </a:rPr>
              <a:t>0.98%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12464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FE3DF"/>
                </a:solidFill>
                <a:latin typeface="Myriad Pro 1"/>
              </a:rPr>
              <a:t>of portfolio overdue ($1,850)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70916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0A61E"/>
                </a:solidFill>
                <a:latin typeface="Myriad Pro 1"/>
              </a:rPr>
              <a:t>No balance has aged beyond 90 days.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349240"/>
            <a:ext cx="7589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Myriad Pro 1"/>
              </a:rPr>
              <a:t>Provisioning is graduated: 1% at current, 5% at 1–30 days, 20% at 31–60 days, 50% at 61–90 days, 100% beyond 90 days — built into the lending model from the outset, not introduced in response to losses.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8778240" y="2651760"/>
          <a:ext cx="8229600" cy="6309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778240" y="914400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BFE3DF"/>
                </a:solidFill>
                <a:latin typeface="Myriad Pro 1"/>
              </a:rPr>
              <a:t>Aging of the $1,850 currently overdue — none beyond 90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86232" y="128016"/>
            <a:ext cx="4690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BFE3DF"/>
                </a:solidFill>
                <a:latin typeface="Myriad Pro 1"/>
              </a:rPr>
              <a:t>• Time allocated: (1 minute)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554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0A61E"/>
                </a:solidFill>
                <a:latin typeface="Myriad Pro 2"/>
              </a:rPr>
              <a:t>09B — THE REST OF THE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77240"/>
            <a:ext cx="1554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B3B3E"/>
                </a:solidFill>
                <a:latin typeface="Myriad Pro 2"/>
              </a:rPr>
              <a:t>Risk Assessment II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600200"/>
            <a:ext cx="1463040" cy="38100"/>
          </a:xfrm>
          <a:prstGeom prst="rect">
            <a:avLst/>
          </a:prstGeom>
          <a:solidFill>
            <a:srgbClr val="F0A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2514600"/>
          <a:ext cx="16459200" cy="736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108960"/>
                <a:gridCol w="6675120"/>
                <a:gridCol w="6675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Myriad Pro 1"/>
                        </a:rPr>
                        <a:t>Area</a:t>
                      </a:r>
                    </a:p>
                  </a:txBody>
                  <a:tcPr marL="91440" marR="91440" marT="36576" marB="36576" anchor="ctr">
                    <a:solidFill>
                      <a:srgbClr val="0B3B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Myriad Pro 1"/>
                        </a:rPr>
                        <a:t>Risk / Description</a:t>
                      </a:r>
                    </a:p>
                  </a:txBody>
                  <a:tcPr marL="91440" marR="91440" marT="36576" marB="36576" anchor="ctr">
                    <a:solidFill>
                      <a:srgbClr val="0B3B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Myriad Pro 1"/>
                        </a:rPr>
                        <a:t>Mitigation Measures</a:t>
                      </a:r>
                    </a:p>
                  </a:txBody>
                  <a:tcPr marL="91440" marR="91440" marT="36576" marB="36576" anchor="ctr">
                    <a:solidFill>
                      <a:srgbClr val="0B3B3E"/>
                    </a:solidFill>
                  </a:tcPr>
                </a:tc>
              </a:tr>
              <a:tr h="1371600"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DIGITAL / TECHNOLOGY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System downtime; cyber/data-protection risk; limited digital literacy or connectivity among rural clients.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Regular system monitoring &amp; technical support; data protection &amp; access controls; backup/recovery; USSD &amp; accessible channels; client digital-literacy support.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1371600"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FRAUD / COMPLIANCE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Fraud, misuse of funds or unauthorized transactions; non-compliance with regulatory and donor requirements.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Strong internal controls &amp; approval procedures; transaction monitoring &amp; reconciliation; regular audits; staff training on fraud prevention.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</a:tr>
              <a:tr h="1371600"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ENVIRONMENTAL / SOCIAL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Climate events, insecurity or disruption affecting rural businesses; vulnerable clients may lose income after shocks.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Continuous monitoring of operating communities; adaptation of programme activities; diversification of client economic activities; community-based support.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1371600"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PARTNERSHIP / DONOR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Dependence on development partners and grant funding; delays in project implementation or donor deliverables.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Regular partner communication &amp; reporting; clear work plans; milestone monitoring; diversification of funding and partnerships.</a:t>
                      </a:r>
                    </a:p>
                  </a:txBody>
                  <a:tcPr marL="91440" marR="91440" marT="36576" marB="36576" anchor="ctr">
                    <a:solidFill>
                      <a:srgbClr val="F5FAF9"/>
                    </a:solidFill>
                  </a:tcPr>
                </a:tc>
              </a:tr>
              <a:tr h="1371600"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REPUTATION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Poor service delivery or unresolved complaints could affect PEAK's reputation with clients and partners.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222222"/>
                          </a:solidFill>
                          <a:latin typeface="Myriad Pro 1"/>
                        </a:rPr>
                        <a:t>Client feedback &amp; complaints mechanisms; regular stakeholder engagement; transparent reporting; prompt resolution of concerns.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982980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555555"/>
                </a:solidFill>
                <a:latin typeface="Myriad Pro 1"/>
              </a:rPr>
              <a:t>Risk Assessment I (previous slide) covers Credit, Liquidity/Finance, Market &amp; Currency, and Operational &amp; Compliance.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86232" y="128016"/>
            <a:ext cx="4690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57B6B2"/>
                </a:solidFill>
                <a:latin typeface="Myriad Pro 1"/>
              </a:rPr>
              <a:t>• Time allocated: (2 minutes)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bout xmlns="591132ca-9134-44e8-bd0b-33927184b0c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A401150B8AA0D41A40DFD5B78D5C045" ma:contentTypeVersion="6" ma:contentTypeDescription="Create a new document." ma:contentTypeScope="" ma:versionID="dffee4ae24f953dd732eff335b373f02">
  <xsd:schema xmlns:xsd="http://www.w3.org/2001/XMLSchema" xmlns:xs="http://www.w3.org/2001/XMLSchema" xmlns:p="http://schemas.microsoft.com/office/2006/metadata/properties" xmlns:ns2="591132ca-9134-44e8-bd0b-33927184b0cc" targetNamespace="http://schemas.microsoft.com/office/2006/metadata/properties" ma:root="true" ma:fieldsID="89102db91075e4882bf05bb79c644da0" ns2:_="">
    <xsd:import namespace="591132ca-9134-44e8-bd0b-33927184b0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Abou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1132ca-9134-44e8-bd0b-33927184b0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About" ma:index="12" nillable="true" ma:displayName="About" ma:description="Description" ma:format="Dropdown" ma:internalName="About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078D05-585C-4E63-B540-D6B0F67D9017}">
  <ds:schemaRefs>
    <ds:schemaRef ds:uri="http://schemas.microsoft.com/office/2006/documentManagement/types"/>
    <ds:schemaRef ds:uri="591132ca-9134-44e8-bd0b-33927184b0cc"/>
    <ds:schemaRef ds:uri="http://purl.org/dc/terms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www.w3.org/XML/1998/namespace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BD34168B-D6E0-48A5-A58C-279A0EDB665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91132ca-9134-44e8-bd0b-33927184b0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623CAEA-C173-4BAA-AC96-D9986D44E5F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604</Words>
  <Application>Microsoft Macintosh PowerPoint</Application>
  <PresentationFormat>Custom</PresentationFormat>
  <Paragraphs>86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Calibri</vt:lpstr>
      <vt:lpstr>Aptos</vt:lpstr>
      <vt:lpstr>Myriad Pro 2</vt:lpstr>
      <vt:lpstr>Myriad Pro 1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Formal Loan Application Presentation</dc:title>
  <cp:lastModifiedBy>Francell Palma</cp:lastModifiedBy>
  <cp:revision>28</cp:revision>
  <dcterms:created xsi:type="dcterms:W3CDTF">2006-08-16T00:00:00Z</dcterms:created>
  <dcterms:modified xsi:type="dcterms:W3CDTF">2026-09-08T07:27:08Z</dcterms:modified>
  <dc:identifier>DAGEw3f9PzE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0x0101008A401150B8AA0D41A40DFD5B78D5C045</vt:lpwstr>
  </property>
  <property fmtid="{D5CDD505-2E9C-101B-9397-08002B2CF9AE}" pid="3" name="Document Type">
    <vt:lpwstr/>
  </property>
  <property fmtid="{D5CDD505-2E9C-101B-9397-08002B2CF9AE}" pid="4" name="Region">
    <vt:lpwstr/>
  </property>
  <property fmtid="{D5CDD505-2E9C-101B-9397-08002B2CF9AE}" pid="5" name="MediaServiceImageTags">
    <vt:lpwstr/>
  </property>
  <property fmtid="{D5CDD505-2E9C-101B-9397-08002B2CF9AE}" pid="6" name="Language">
    <vt:lpwstr/>
  </property>
  <property fmtid="{D5CDD505-2E9C-101B-9397-08002B2CF9AE}" pid="7" name="LCI Name">
    <vt:lpwstr/>
  </property>
  <property fmtid="{D5CDD505-2E9C-101B-9397-08002B2CF9AE}" pid="8" name="Country">
    <vt:lpwstr/>
  </property>
</Properties>
</file>